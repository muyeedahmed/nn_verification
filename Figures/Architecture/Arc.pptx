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6136"/>
    <p:restoredTop sz="94752"/>
  </p:normalViewPr>
  <p:slideViewPr>
    <p:cSldViewPr snapToGrid="0">
      <p:cViewPr varScale="1">
        <p:scale>
          <a:sx n="116" d="100"/>
          <a:sy n="116" d="100"/>
        </p:scale>
        <p:origin x="103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CD2412-33BF-174E-9BFB-FC072058772E}" type="datetimeFigureOut">
              <a:rPr lang="en-US" smtClean="0"/>
              <a:t>7/29/25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7E5854-22E2-6B48-A497-456478D097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13036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function crop () { </a:t>
            </a:r>
            <a:r>
              <a:rPr lang="en-US" dirty="0" err="1"/>
              <a:t>pdfcrop</a:t>
            </a:r>
            <a:r>
              <a:rPr lang="en-US" dirty="0"/>
              <a:t> --</a:t>
            </a:r>
            <a:r>
              <a:rPr lang="en-US" dirty="0" err="1"/>
              <a:t>ini</a:t>
            </a:r>
            <a:r>
              <a:rPr lang="en-US" dirty="0"/>
              <a:t> $1 $1 &amp; }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7E5854-22E2-6B48-A497-456478D0970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6468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2E499-FA40-31A1-4F48-26665F0B1A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7A2BE6-6F50-003B-26E0-DD47864225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14A5CC-1BD6-91E6-2C87-53BE888D23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CBD626-719E-6642-8185-D4E8F0C4BE28}" type="datetimeFigureOut">
              <a:rPr lang="en-US" smtClean="0"/>
              <a:t>7/29/25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825679-9FD8-199D-99FF-2D15D9711A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166EF1-4FCD-250A-5457-24AF9F29A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4F6AE-6F58-C040-95FD-2A3FD274CB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78809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D0C532-FFEB-ECC4-6619-19BC42A3EC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CD1330-551C-3CF0-DCA3-E33DECF77C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153646-6FB9-A513-55AC-6552E50497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CBD626-719E-6642-8185-D4E8F0C4BE28}" type="datetimeFigureOut">
              <a:rPr lang="en-US" smtClean="0"/>
              <a:t>7/29/25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A6F7E8-C425-A1B0-71C0-0BF4B67796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A81242-EAE3-0B22-EE62-3EE64B2D3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4F6AE-6F58-C040-95FD-2A3FD274CB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82271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C61DCE-2691-45E9-9784-EB63E9EF67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8FD77C-AA7F-F0A2-AF0A-4C6293C696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0D7B88-1807-B111-9B11-FE2F5BB4C5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CBD626-719E-6642-8185-D4E8F0C4BE28}" type="datetimeFigureOut">
              <a:rPr lang="en-US" smtClean="0"/>
              <a:t>7/29/25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E19912-93C7-1ADE-A15E-51B89CE939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44EB8D-C49D-C2C8-C3DD-9A8E19E2C7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4F6AE-6F58-C040-95FD-2A3FD274CB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04215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58F49-D9AA-C0C5-BE24-BED92177F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D0B73E-1601-8161-D3AB-D7266255DF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9C9FC4-763E-AE9B-56C7-2BAD7DC27C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498D68-7C7F-F1F0-9E52-DB66A5638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CBD626-719E-6642-8185-D4E8F0C4BE28}" type="datetimeFigureOut">
              <a:rPr lang="en-US" smtClean="0"/>
              <a:t>7/29/25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BDC4F7-9601-F4B2-2543-7A99D52C74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F7C2DE-DBB2-1614-345E-E7E9E354C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4F6AE-6F58-C040-95FD-2A3FD274CB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96386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9033E0-2265-BF75-9A0D-EF0E3F73B9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17B0A2-CB54-3FD8-793F-EBAC4AEAC8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531E6D-6C5E-B294-610F-34835E3EC9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0570C38-D131-8B59-F064-A130A48AEA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BA511F-7F52-7549-F8EE-BF5AC16634A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FC0E8F4-E846-D824-9BBA-20A94C01AD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CBD626-719E-6642-8185-D4E8F0C4BE28}" type="datetimeFigureOut">
              <a:rPr lang="en-US" smtClean="0"/>
              <a:t>7/29/25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E2F6C63-ACCE-5EFE-0AFC-FB8FACDF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8AE6A52-66B6-DBB1-40AD-5F1171ED0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4F6AE-6F58-C040-95FD-2A3FD274CB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03540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709485-B905-79AE-D975-792EBCC47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01CBF8-E6D1-37C5-19A4-75360EC5CA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CBD626-719E-6642-8185-D4E8F0C4BE28}" type="datetimeFigureOut">
              <a:rPr lang="en-US" smtClean="0"/>
              <a:t>7/29/25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DCD7A5-130A-1E8A-A784-158383578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85A6D0-6B45-0C07-0BD3-174D62427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4F6AE-6F58-C040-95FD-2A3FD274CB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12024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7563A5-E033-CF8A-030A-93A45DA85B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CBD626-719E-6642-8185-D4E8F0C4BE28}" type="datetimeFigureOut">
              <a:rPr lang="en-US" smtClean="0"/>
              <a:t>7/29/25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567C36-BF14-8A60-274A-6282D30DB9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49C1F6-536B-83E4-337D-90DA794B0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4F6AE-6F58-C040-95FD-2A3FD274CB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2649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8E2CE5-160D-24C6-D831-10635857A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57A580-1379-ED45-78B0-23F4C41DB3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8C2366-5B71-45CE-53D6-2F80238BD3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477D6F-2180-440F-AE70-D0B35C3472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CBD626-719E-6642-8185-D4E8F0C4BE28}" type="datetimeFigureOut">
              <a:rPr lang="en-US" smtClean="0"/>
              <a:t>7/29/25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FDF4D8-51F8-D3A4-BA2B-17F5BF779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9CEDDC-47C8-2181-D3F5-7CA3837E9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4F6AE-6F58-C040-95FD-2A3FD274CB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1720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385B7-0185-9687-C8D1-AD08D68FCB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C344D2D-0C30-8E41-3436-DDA0415D40D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76D6DD-CD6C-23BC-A328-00CF246F3E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138B03-4030-050E-0988-52B3929580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CBD626-719E-6642-8185-D4E8F0C4BE28}" type="datetimeFigureOut">
              <a:rPr lang="en-US" smtClean="0"/>
              <a:t>7/29/25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6FFFAB-43B3-9C0A-EF32-B79C2A87A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6450B2-3D94-6118-A43F-FBDDEDB83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4F6AE-6F58-C040-95FD-2A3FD274CB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30329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5E589A-B142-36BB-2E34-4FA6F63CC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CBE2BC-F518-94FE-A069-0CF51E2961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458D5F-AAE6-6A5D-873E-FA4449F1EE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CBD626-719E-6642-8185-D4E8F0C4BE28}" type="datetimeFigureOut">
              <a:rPr lang="en-US" smtClean="0"/>
              <a:t>7/29/25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8B9BD2-DC03-7573-A662-7E462C6D99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98FDE5-603B-ADE4-A951-987DC3107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4F6AE-6F58-C040-95FD-2A3FD274CB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6567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B76AC7F-6E70-5B9F-95C4-B59901A5C57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B94FC1-4CCD-F6B5-07B1-196583F7FC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6F21A2-126B-6613-BFE8-C3D3F1A373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CBD626-719E-6642-8185-D4E8F0C4BE28}" type="datetimeFigureOut">
              <a:rPr lang="en-US" smtClean="0"/>
              <a:t>7/29/25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FEA62B-5648-CF31-101A-8E01EFFC39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8BCF83-4655-B65F-1FC3-2693B3F520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4F6AE-6F58-C040-95FD-2A3FD274CB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45053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38F5B28-A12B-1D34-D2EA-51E42DB3A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A09F8E-705D-B6C5-F26B-F66F270FC6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D6CE31-FD44-284B-2ED0-050FC65A542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CBD626-719E-6642-8185-D4E8F0C4BE28}" type="datetimeFigureOut">
              <a:rPr lang="en-US" smtClean="0"/>
              <a:t>7/29/25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8377AB-8037-0651-EEAB-DFBB73B8EC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9CA371-7666-66EF-81D8-9210063A9D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F4F6AE-6F58-C040-95FD-2A3FD274CB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5647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F34C94-31D3-6DEB-37A5-B36C97011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n 1">
            <a:extLst>
              <a:ext uri="{FF2B5EF4-FFF2-40B4-BE49-F238E27FC236}">
                <a16:creationId xmlns:a16="http://schemas.microsoft.com/office/drawing/2014/main" id="{9F6A3129-63E5-4CFF-14B3-53DF209E1ADB}"/>
              </a:ext>
            </a:extLst>
          </p:cNvPr>
          <p:cNvSpPr/>
          <p:nvPr/>
        </p:nvSpPr>
        <p:spPr>
          <a:xfrm>
            <a:off x="1090257" y="3247532"/>
            <a:ext cx="677293" cy="551868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nip Diagonal Corner Rectangle 4">
            <a:extLst>
              <a:ext uri="{FF2B5EF4-FFF2-40B4-BE49-F238E27FC236}">
                <a16:creationId xmlns:a16="http://schemas.microsoft.com/office/drawing/2014/main" id="{E685BBE5-BF83-1C23-F2A3-22A41F7394D5}"/>
              </a:ext>
            </a:extLst>
          </p:cNvPr>
          <p:cNvSpPr/>
          <p:nvPr/>
        </p:nvSpPr>
        <p:spPr>
          <a:xfrm>
            <a:off x="5131275" y="2841432"/>
            <a:ext cx="1304954" cy="1644345"/>
          </a:xfrm>
          <a:prstGeom prst="snip2Diag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60CA342-4C0A-32A0-9500-B88DDF99BB28}"/>
              </a:ext>
            </a:extLst>
          </p:cNvPr>
          <p:cNvSpPr/>
          <p:nvPr/>
        </p:nvSpPr>
        <p:spPr>
          <a:xfrm>
            <a:off x="3693661" y="3256878"/>
            <a:ext cx="1230550" cy="819442"/>
          </a:xfrm>
          <a:prstGeom prst="roundRect">
            <a:avLst>
              <a:gd name="adj" fmla="val 34014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40B8CB-8CA4-CB46-CFFD-65A5BCFEDDF4}"/>
              </a:ext>
            </a:extLst>
          </p:cNvPr>
          <p:cNvSpPr txBox="1"/>
          <p:nvPr/>
        </p:nvSpPr>
        <p:spPr>
          <a:xfrm>
            <a:off x="3576966" y="3343728"/>
            <a:ext cx="145861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 err="1">
                <a:solidFill>
                  <a:schemeClr val="bg1"/>
                </a:solidFill>
              </a:rPr>
              <a:t>Model</a:t>
            </a:r>
            <a:r>
              <a:rPr lang="en-US" sz="1200" baseline="-25000" dirty="0" err="1">
                <a:solidFill>
                  <a:schemeClr val="bg1"/>
                </a:solidFill>
              </a:rPr>
              <a:t>Init</a:t>
            </a:r>
            <a:endParaRPr lang="en-US" sz="1200" baseline="-25000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2553F5-32C9-87F5-5852-BD33944BCCB4}"/>
              </a:ext>
            </a:extLst>
          </p:cNvPr>
          <p:cNvSpPr txBox="1"/>
          <p:nvPr/>
        </p:nvSpPr>
        <p:spPr>
          <a:xfrm>
            <a:off x="5126105" y="2882741"/>
            <a:ext cx="1310124" cy="246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MILP Optimizer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56F669E7-5450-874C-154D-2FBBA28C56BC}"/>
              </a:ext>
            </a:extLst>
          </p:cNvPr>
          <p:cNvSpPr/>
          <p:nvPr/>
        </p:nvSpPr>
        <p:spPr>
          <a:xfrm>
            <a:off x="6742539" y="2792325"/>
            <a:ext cx="1230550" cy="819442"/>
          </a:xfrm>
          <a:prstGeom prst="roundRect">
            <a:avLst>
              <a:gd name="adj" fmla="val 34014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C0B7DA-EF06-8F30-BAF9-3F8D7DC63FA7}"/>
              </a:ext>
            </a:extLst>
          </p:cNvPr>
          <p:cNvSpPr txBox="1"/>
          <p:nvPr/>
        </p:nvSpPr>
        <p:spPr>
          <a:xfrm>
            <a:off x="6627911" y="2836948"/>
            <a:ext cx="145861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 err="1">
                <a:solidFill>
                  <a:schemeClr val="bg1"/>
                </a:solidFill>
              </a:rPr>
              <a:t>Model</a:t>
            </a:r>
            <a:r>
              <a:rPr lang="en-US" sz="1200" baseline="-25000" dirty="0" err="1">
                <a:solidFill>
                  <a:schemeClr val="bg1"/>
                </a:solidFill>
              </a:rPr>
              <a:t>G_STC</a:t>
            </a:r>
            <a:endParaRPr lang="en-US" sz="1200" baseline="-25000" dirty="0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37E7FAB-DDE8-A485-6944-47CD411F91B3}"/>
              </a:ext>
            </a:extLst>
          </p:cNvPr>
          <p:cNvSpPr txBox="1"/>
          <p:nvPr/>
        </p:nvSpPr>
        <p:spPr>
          <a:xfrm>
            <a:off x="8164668" y="3162805"/>
            <a:ext cx="1458618" cy="8159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NN</a:t>
            </a:r>
          </a:p>
          <a:p>
            <a:pPr algn="ctr"/>
            <a:r>
              <a:rPr lang="en-US" sz="1000" dirty="0">
                <a:solidFill>
                  <a:schemeClr val="bg1"/>
                </a:solidFill>
              </a:rPr>
              <a:t>Re-Train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CEEFCE40-C36E-5983-3EDE-C422B3B28A24}"/>
              </a:ext>
            </a:extLst>
          </p:cNvPr>
          <p:cNvSpPr/>
          <p:nvPr/>
        </p:nvSpPr>
        <p:spPr>
          <a:xfrm>
            <a:off x="9938727" y="2792325"/>
            <a:ext cx="1230550" cy="819442"/>
          </a:xfrm>
          <a:prstGeom prst="roundRect">
            <a:avLst>
              <a:gd name="adj" fmla="val 34014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6A1C0D1-4FCD-F485-C57F-FAA86B313572}"/>
              </a:ext>
            </a:extLst>
          </p:cNvPr>
          <p:cNvSpPr txBox="1"/>
          <p:nvPr/>
        </p:nvSpPr>
        <p:spPr>
          <a:xfrm>
            <a:off x="9824693" y="2887486"/>
            <a:ext cx="145861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 err="1">
                <a:solidFill>
                  <a:schemeClr val="bg1"/>
                </a:solidFill>
              </a:rPr>
              <a:t>Model</a:t>
            </a:r>
            <a:r>
              <a:rPr lang="en-US" sz="1200" baseline="-25000" dirty="0" err="1">
                <a:solidFill>
                  <a:schemeClr val="bg1"/>
                </a:solidFill>
              </a:rPr>
              <a:t>RT_STC</a:t>
            </a:r>
            <a:endParaRPr lang="en-US" sz="1200" baseline="-25000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8D755AA-5FF1-20AD-E4C4-6AD9F462F8D6}"/>
              </a:ext>
            </a:extLst>
          </p:cNvPr>
          <p:cNvSpPr txBox="1"/>
          <p:nvPr/>
        </p:nvSpPr>
        <p:spPr>
          <a:xfrm>
            <a:off x="792782" y="3826164"/>
            <a:ext cx="12722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Dataset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23B5D36-B190-EBE3-BCB1-F54B3EF05E9D}"/>
              </a:ext>
            </a:extLst>
          </p:cNvPr>
          <p:cNvCxnSpPr>
            <a:cxnSpLocks/>
            <a:stCxn id="36" idx="0"/>
            <a:endCxn id="6" idx="1"/>
          </p:cNvCxnSpPr>
          <p:nvPr/>
        </p:nvCxnSpPr>
        <p:spPr>
          <a:xfrm>
            <a:off x="3512787" y="3663606"/>
            <a:ext cx="180874" cy="2993"/>
          </a:xfrm>
          <a:prstGeom prst="straightConnector1">
            <a:avLst/>
          </a:prstGeom>
          <a:ln w="1270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E4ED726-6BB1-C91B-4026-20C752F9DDEA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7973089" y="3202046"/>
            <a:ext cx="231602" cy="0"/>
          </a:xfrm>
          <a:prstGeom prst="straightConnector1">
            <a:avLst/>
          </a:prstGeom>
          <a:ln w="1270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D7CD329-ADAA-9D33-6493-37FD220325BC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9688591" y="3200931"/>
            <a:ext cx="250136" cy="1115"/>
          </a:xfrm>
          <a:prstGeom prst="straightConnector1">
            <a:avLst/>
          </a:prstGeom>
          <a:ln w="1270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6E288887-7656-3CE9-D813-96B428F2C2E0}"/>
              </a:ext>
            </a:extLst>
          </p:cNvPr>
          <p:cNvCxnSpPr>
            <a:cxnSpLocks/>
            <a:stCxn id="2" idx="1"/>
          </p:cNvCxnSpPr>
          <p:nvPr/>
        </p:nvCxnSpPr>
        <p:spPr>
          <a:xfrm rot="5400000" flipH="1" flipV="1">
            <a:off x="1891299" y="2372287"/>
            <a:ext cx="412849" cy="1337643"/>
          </a:xfrm>
          <a:prstGeom prst="bentConnector3">
            <a:avLst>
              <a:gd name="adj1" fmla="val 152962"/>
            </a:avLst>
          </a:prstGeom>
          <a:ln w="1270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D356ACE2-49A8-C6F7-AFF5-A0ABB9F8FEED}"/>
              </a:ext>
            </a:extLst>
          </p:cNvPr>
          <p:cNvCxnSpPr>
            <a:cxnSpLocks/>
            <a:stCxn id="2" idx="1"/>
            <a:endCxn id="5" idx="3"/>
          </p:cNvCxnSpPr>
          <p:nvPr/>
        </p:nvCxnSpPr>
        <p:spPr>
          <a:xfrm rot="5400000" flipH="1" flipV="1">
            <a:off x="3403278" y="867058"/>
            <a:ext cx="406100" cy="4354848"/>
          </a:xfrm>
          <a:prstGeom prst="bentConnector3">
            <a:avLst>
              <a:gd name="adj1" fmla="val 156292"/>
            </a:avLst>
          </a:prstGeom>
          <a:ln w="1270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Elbow Connector 23">
            <a:extLst>
              <a:ext uri="{FF2B5EF4-FFF2-40B4-BE49-F238E27FC236}">
                <a16:creationId xmlns:a16="http://schemas.microsoft.com/office/drawing/2014/main" id="{019BBD4D-62A7-111D-D131-BFBDD55E791D}"/>
              </a:ext>
            </a:extLst>
          </p:cNvPr>
          <p:cNvCxnSpPr>
            <a:cxnSpLocks/>
            <a:stCxn id="2" idx="1"/>
          </p:cNvCxnSpPr>
          <p:nvPr/>
        </p:nvCxnSpPr>
        <p:spPr>
          <a:xfrm rot="5400000" flipH="1" flipV="1">
            <a:off x="4959633" y="-696046"/>
            <a:ext cx="412849" cy="7474308"/>
          </a:xfrm>
          <a:prstGeom prst="bentConnector3">
            <a:avLst>
              <a:gd name="adj1" fmla="val 152960"/>
            </a:avLst>
          </a:prstGeom>
          <a:ln w="1270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31" name="Group 30">
            <a:extLst>
              <a:ext uri="{FF2B5EF4-FFF2-40B4-BE49-F238E27FC236}">
                <a16:creationId xmlns:a16="http://schemas.microsoft.com/office/drawing/2014/main" id="{D9F97D1B-F5DB-2CBD-A8DB-877C781AD7C8}"/>
              </a:ext>
            </a:extLst>
          </p:cNvPr>
          <p:cNvGrpSpPr/>
          <p:nvPr/>
        </p:nvGrpSpPr>
        <p:grpSpPr>
          <a:xfrm>
            <a:off x="2027746" y="2841433"/>
            <a:ext cx="1553710" cy="1644345"/>
            <a:chOff x="1512541" y="2420066"/>
            <a:chExt cx="1553710" cy="1644345"/>
          </a:xfrm>
        </p:grpSpPr>
        <p:sp>
          <p:nvSpPr>
            <p:cNvPr id="36" name="Snip Diagonal Corner Rectangle 35">
              <a:extLst>
                <a:ext uri="{FF2B5EF4-FFF2-40B4-BE49-F238E27FC236}">
                  <a16:creationId xmlns:a16="http://schemas.microsoft.com/office/drawing/2014/main" id="{9AEA8A63-FC05-AFD2-81DB-90628C34DE10}"/>
                </a:ext>
              </a:extLst>
            </p:cNvPr>
            <p:cNvSpPr/>
            <p:nvPr/>
          </p:nvSpPr>
          <p:spPr>
            <a:xfrm>
              <a:off x="1512541" y="2420066"/>
              <a:ext cx="1485041" cy="1644345"/>
            </a:xfrm>
            <a:prstGeom prst="snip2Diag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Manual Operation 36">
              <a:extLst>
                <a:ext uri="{FF2B5EF4-FFF2-40B4-BE49-F238E27FC236}">
                  <a16:creationId xmlns:a16="http://schemas.microsoft.com/office/drawing/2014/main" id="{4E32250D-5724-B7BD-E7FF-F8C1901598FD}"/>
                </a:ext>
              </a:extLst>
            </p:cNvPr>
            <p:cNvSpPr/>
            <p:nvPr/>
          </p:nvSpPr>
          <p:spPr>
            <a:xfrm rot="16200000">
              <a:off x="1189730" y="3071180"/>
              <a:ext cx="1051805" cy="200042"/>
            </a:xfrm>
            <a:prstGeom prst="flowChartManualOperation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Manual Operation 37">
              <a:extLst>
                <a:ext uri="{FF2B5EF4-FFF2-40B4-BE49-F238E27FC236}">
                  <a16:creationId xmlns:a16="http://schemas.microsoft.com/office/drawing/2014/main" id="{0DB5ED32-563C-2F89-B7B3-3E9F7DDF601B}"/>
                </a:ext>
              </a:extLst>
            </p:cNvPr>
            <p:cNvSpPr/>
            <p:nvPr/>
          </p:nvSpPr>
          <p:spPr>
            <a:xfrm rot="16200000">
              <a:off x="1289752" y="3071180"/>
              <a:ext cx="1051805" cy="200042"/>
            </a:xfrm>
            <a:prstGeom prst="flowChartManualOperation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Manual Operation 38">
              <a:extLst>
                <a:ext uri="{FF2B5EF4-FFF2-40B4-BE49-F238E27FC236}">
                  <a16:creationId xmlns:a16="http://schemas.microsoft.com/office/drawing/2014/main" id="{B14B1CC4-9F18-837D-B839-B8F62B21E438}"/>
                </a:ext>
              </a:extLst>
            </p:cNvPr>
            <p:cNvSpPr/>
            <p:nvPr/>
          </p:nvSpPr>
          <p:spPr>
            <a:xfrm rot="16200000">
              <a:off x="1389775" y="3071180"/>
              <a:ext cx="1051805" cy="200042"/>
            </a:xfrm>
            <a:prstGeom prst="flowChartManualOperation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81632FE5-B4BE-A35A-5A4F-94A2FC15232B}"/>
                </a:ext>
              </a:extLst>
            </p:cNvPr>
            <p:cNvSpPr/>
            <p:nvPr/>
          </p:nvSpPr>
          <p:spPr>
            <a:xfrm>
              <a:off x="2220147" y="2707945"/>
              <a:ext cx="151391" cy="926511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27102D12-3FFA-B51F-9ABC-826CA40CB16E}"/>
                </a:ext>
              </a:extLst>
            </p:cNvPr>
            <p:cNvSpPr/>
            <p:nvPr/>
          </p:nvSpPr>
          <p:spPr>
            <a:xfrm>
              <a:off x="2252176" y="2739810"/>
              <a:ext cx="89321" cy="89321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423D4E16-D406-EE41-FCFD-AEC9E5530E9F}"/>
                </a:ext>
              </a:extLst>
            </p:cNvPr>
            <p:cNvSpPr/>
            <p:nvPr/>
          </p:nvSpPr>
          <p:spPr>
            <a:xfrm>
              <a:off x="2252176" y="2898560"/>
              <a:ext cx="89321" cy="89321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1F72D841-DEBF-B851-D97C-E631F4111B6B}"/>
                </a:ext>
              </a:extLst>
            </p:cNvPr>
            <p:cNvSpPr/>
            <p:nvPr/>
          </p:nvSpPr>
          <p:spPr>
            <a:xfrm>
              <a:off x="2252176" y="3057310"/>
              <a:ext cx="89321" cy="89321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A07CC1BF-73B2-6355-5066-ACC43362DDFA}"/>
                </a:ext>
              </a:extLst>
            </p:cNvPr>
            <p:cNvSpPr/>
            <p:nvPr/>
          </p:nvSpPr>
          <p:spPr>
            <a:xfrm>
              <a:off x="2252176" y="3216060"/>
              <a:ext cx="89321" cy="89321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C7B47824-8CB9-5F34-DDC7-153CC4229564}"/>
                </a:ext>
              </a:extLst>
            </p:cNvPr>
            <p:cNvSpPr/>
            <p:nvPr/>
          </p:nvSpPr>
          <p:spPr>
            <a:xfrm>
              <a:off x="2251181" y="3509789"/>
              <a:ext cx="89321" cy="89321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3BAA4CC3-9FFC-A989-6812-698066BF0045}"/>
                </a:ext>
              </a:extLst>
            </p:cNvPr>
            <p:cNvGrpSpPr/>
            <p:nvPr/>
          </p:nvGrpSpPr>
          <p:grpSpPr>
            <a:xfrm>
              <a:off x="2281601" y="3336084"/>
              <a:ext cx="28479" cy="143002"/>
              <a:chOff x="1894524" y="3343275"/>
              <a:chExt cx="28479" cy="143002"/>
            </a:xfrm>
          </p:grpSpPr>
          <p:sp>
            <p:nvSpPr>
              <p:cNvPr id="137" name="Oval 136">
                <a:extLst>
                  <a:ext uri="{FF2B5EF4-FFF2-40B4-BE49-F238E27FC236}">
                    <a16:creationId xmlns:a16="http://schemas.microsoft.com/office/drawing/2014/main" id="{E17B5EC2-AF6C-C876-0AA8-2CABFCD46F88}"/>
                  </a:ext>
                </a:extLst>
              </p:cNvPr>
              <p:cNvSpPr/>
              <p:nvPr/>
            </p:nvSpPr>
            <p:spPr>
              <a:xfrm flipH="1">
                <a:off x="1894524" y="3401568"/>
                <a:ext cx="27432" cy="2743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8" name="Oval 137">
                <a:extLst>
                  <a:ext uri="{FF2B5EF4-FFF2-40B4-BE49-F238E27FC236}">
                    <a16:creationId xmlns:a16="http://schemas.microsoft.com/office/drawing/2014/main" id="{0768D125-2509-CCE9-ABC1-9788EEEED970}"/>
                  </a:ext>
                </a:extLst>
              </p:cNvPr>
              <p:cNvSpPr/>
              <p:nvPr/>
            </p:nvSpPr>
            <p:spPr>
              <a:xfrm flipH="1">
                <a:off x="1895571" y="3343275"/>
                <a:ext cx="27432" cy="2743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" name="Oval 139">
                <a:extLst>
                  <a:ext uri="{FF2B5EF4-FFF2-40B4-BE49-F238E27FC236}">
                    <a16:creationId xmlns:a16="http://schemas.microsoft.com/office/drawing/2014/main" id="{25C635E3-BAD3-C3F2-808B-3654830C58DD}"/>
                  </a:ext>
                </a:extLst>
              </p:cNvPr>
              <p:cNvSpPr/>
              <p:nvPr/>
            </p:nvSpPr>
            <p:spPr>
              <a:xfrm flipH="1">
                <a:off x="1894524" y="3458845"/>
                <a:ext cx="27432" cy="2743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50C0C4A-438A-EF0D-795F-61F99E3318BD}"/>
                </a:ext>
              </a:extLst>
            </p:cNvPr>
            <p:cNvSpPr/>
            <p:nvPr/>
          </p:nvSpPr>
          <p:spPr>
            <a:xfrm>
              <a:off x="2686872" y="2707945"/>
              <a:ext cx="151391" cy="926511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F51EFECF-7275-4531-B60F-6AF39D104A42}"/>
                </a:ext>
              </a:extLst>
            </p:cNvPr>
            <p:cNvSpPr/>
            <p:nvPr/>
          </p:nvSpPr>
          <p:spPr>
            <a:xfrm>
              <a:off x="2718901" y="2739810"/>
              <a:ext cx="89321" cy="89321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BBD69C96-4560-7C04-BE9A-6B852C0BC087}"/>
                </a:ext>
              </a:extLst>
            </p:cNvPr>
            <p:cNvSpPr/>
            <p:nvPr/>
          </p:nvSpPr>
          <p:spPr>
            <a:xfrm>
              <a:off x="2718901" y="2898560"/>
              <a:ext cx="89321" cy="89321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0FB036F4-004E-D3B5-4BA0-052CB1CED795}"/>
                </a:ext>
              </a:extLst>
            </p:cNvPr>
            <p:cNvSpPr/>
            <p:nvPr/>
          </p:nvSpPr>
          <p:spPr>
            <a:xfrm>
              <a:off x="2718901" y="3057310"/>
              <a:ext cx="89321" cy="89321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770EF96B-2C41-B1E4-27CE-B88D76051F79}"/>
                </a:ext>
              </a:extLst>
            </p:cNvPr>
            <p:cNvSpPr/>
            <p:nvPr/>
          </p:nvSpPr>
          <p:spPr>
            <a:xfrm>
              <a:off x="2718901" y="3216060"/>
              <a:ext cx="89321" cy="89321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693E6658-EA2E-4DCD-6C4B-6AB8B4352ED1}"/>
                </a:ext>
              </a:extLst>
            </p:cNvPr>
            <p:cNvSpPr/>
            <p:nvPr/>
          </p:nvSpPr>
          <p:spPr>
            <a:xfrm>
              <a:off x="2717906" y="3509789"/>
              <a:ext cx="89321" cy="89321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11B0D4BF-E4F7-4782-1FD3-A7C81559EE4F}"/>
                </a:ext>
              </a:extLst>
            </p:cNvPr>
            <p:cNvGrpSpPr/>
            <p:nvPr/>
          </p:nvGrpSpPr>
          <p:grpSpPr>
            <a:xfrm>
              <a:off x="2748326" y="3336084"/>
              <a:ext cx="28479" cy="143002"/>
              <a:chOff x="1894524" y="3343275"/>
              <a:chExt cx="28479" cy="143002"/>
            </a:xfrm>
          </p:grpSpPr>
          <p:sp>
            <p:nvSpPr>
              <p:cNvPr id="133" name="Oval 132">
                <a:extLst>
                  <a:ext uri="{FF2B5EF4-FFF2-40B4-BE49-F238E27FC236}">
                    <a16:creationId xmlns:a16="http://schemas.microsoft.com/office/drawing/2014/main" id="{BED35FF2-A5CE-3033-38B0-1E6BC38B4B06}"/>
                  </a:ext>
                </a:extLst>
              </p:cNvPr>
              <p:cNvSpPr/>
              <p:nvPr/>
            </p:nvSpPr>
            <p:spPr>
              <a:xfrm flipH="1">
                <a:off x="1894524" y="3401568"/>
                <a:ext cx="27432" cy="2743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Oval 133">
                <a:extLst>
                  <a:ext uri="{FF2B5EF4-FFF2-40B4-BE49-F238E27FC236}">
                    <a16:creationId xmlns:a16="http://schemas.microsoft.com/office/drawing/2014/main" id="{EF9BB90F-9472-3862-ED28-86FDDE9CCA0E}"/>
                  </a:ext>
                </a:extLst>
              </p:cNvPr>
              <p:cNvSpPr/>
              <p:nvPr/>
            </p:nvSpPr>
            <p:spPr>
              <a:xfrm flipH="1">
                <a:off x="1895571" y="3343275"/>
                <a:ext cx="27432" cy="2743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6" name="Oval 135">
                <a:extLst>
                  <a:ext uri="{FF2B5EF4-FFF2-40B4-BE49-F238E27FC236}">
                    <a16:creationId xmlns:a16="http://schemas.microsoft.com/office/drawing/2014/main" id="{638DE7EB-F54A-4BBA-F831-4EA242B1CAC4}"/>
                  </a:ext>
                </a:extLst>
              </p:cNvPr>
              <p:cNvSpPr/>
              <p:nvPr/>
            </p:nvSpPr>
            <p:spPr>
              <a:xfrm flipH="1">
                <a:off x="1894524" y="3458845"/>
                <a:ext cx="27432" cy="2743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1EBA3548-6CBC-E5DC-ED15-57B3A2AB9FEA}"/>
                </a:ext>
              </a:extLst>
            </p:cNvPr>
            <p:cNvCxnSpPr>
              <a:stCxn id="39" idx="2"/>
              <a:endCxn id="40" idx="1"/>
            </p:cNvCxnSpPr>
            <p:nvPr/>
          </p:nvCxnSpPr>
          <p:spPr>
            <a:xfrm>
              <a:off x="2015699" y="3171201"/>
              <a:ext cx="204448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8170A1A0-AE55-0EC9-0A73-7E40EED30BC2}"/>
                </a:ext>
              </a:extLst>
            </p:cNvPr>
            <p:cNvCxnSpPr>
              <a:cxnSpLocks/>
              <a:stCxn id="40" idx="3"/>
              <a:endCxn id="47" idx="1"/>
            </p:cNvCxnSpPr>
            <p:nvPr/>
          </p:nvCxnSpPr>
          <p:spPr>
            <a:xfrm>
              <a:off x="2371538" y="3171201"/>
              <a:ext cx="315334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7A48B7A7-158F-404B-F67C-5094B51D9237}"/>
                </a:ext>
              </a:extLst>
            </p:cNvPr>
            <p:cNvSpPr txBox="1"/>
            <p:nvPr/>
          </p:nvSpPr>
          <p:spPr>
            <a:xfrm>
              <a:off x="1587347" y="3742972"/>
              <a:ext cx="45661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CNN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FE5DAE9B-3A86-39D0-E9D8-D88C67D77F53}"/>
                </a:ext>
              </a:extLst>
            </p:cNvPr>
            <p:cNvSpPr txBox="1"/>
            <p:nvPr/>
          </p:nvSpPr>
          <p:spPr>
            <a:xfrm>
              <a:off x="2043961" y="3664301"/>
              <a:ext cx="51721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FC Layer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4FBF7A34-EEAF-864E-935F-96003E52103D}"/>
                </a:ext>
              </a:extLst>
            </p:cNvPr>
            <p:cNvSpPr txBox="1"/>
            <p:nvPr/>
          </p:nvSpPr>
          <p:spPr>
            <a:xfrm>
              <a:off x="2485264" y="3664301"/>
              <a:ext cx="58098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Output Layer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B03F418E-3BBA-87B1-4ACE-F40AE2CF0C85}"/>
                </a:ext>
              </a:extLst>
            </p:cNvPr>
            <p:cNvSpPr txBox="1"/>
            <p:nvPr/>
          </p:nvSpPr>
          <p:spPr>
            <a:xfrm>
              <a:off x="2319852" y="2929571"/>
              <a:ext cx="41870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i="1" dirty="0"/>
                <a:t>W</a:t>
              </a:r>
              <a:r>
                <a:rPr lang="en-US" sz="1000" i="1" baseline="-25000" dirty="0"/>
                <a:t>out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257E72C1-F701-61FE-C2EA-78345E10425F}"/>
                </a:ext>
              </a:extLst>
            </p:cNvPr>
            <p:cNvSpPr txBox="1"/>
            <p:nvPr/>
          </p:nvSpPr>
          <p:spPr>
            <a:xfrm>
              <a:off x="2339890" y="3128281"/>
              <a:ext cx="37863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i="1" dirty="0"/>
                <a:t>b</a:t>
              </a:r>
              <a:r>
                <a:rPr lang="en-US" sz="1000" i="1" baseline="-25000" dirty="0"/>
                <a:t>out</a:t>
              </a:r>
              <a:endParaRPr lang="en-US" sz="1000" i="1" dirty="0"/>
            </a:p>
          </p:txBody>
        </p:sp>
      </p:grpSp>
      <p:sp>
        <p:nvSpPr>
          <p:cNvPr id="141" name="TextBox 140">
            <a:extLst>
              <a:ext uri="{FF2B5EF4-FFF2-40B4-BE49-F238E27FC236}">
                <a16:creationId xmlns:a16="http://schemas.microsoft.com/office/drawing/2014/main" id="{CC334279-0BDD-B6E6-0E82-FE2D95ECEFB2}"/>
              </a:ext>
            </a:extLst>
          </p:cNvPr>
          <p:cNvSpPr txBox="1"/>
          <p:nvPr/>
        </p:nvSpPr>
        <p:spPr>
          <a:xfrm>
            <a:off x="3852308" y="3681380"/>
            <a:ext cx="89896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i="1" dirty="0">
                <a:solidFill>
                  <a:schemeClr val="bg1"/>
                </a:solidFill>
              </a:rPr>
              <a:t>[W</a:t>
            </a:r>
            <a:r>
              <a:rPr lang="en-US" sz="1200" i="1" baseline="-25000" dirty="0">
                <a:solidFill>
                  <a:schemeClr val="bg1"/>
                </a:solidFill>
              </a:rPr>
              <a:t>out </a:t>
            </a:r>
            <a:r>
              <a:rPr lang="en-US" sz="1200" i="1" dirty="0">
                <a:solidFill>
                  <a:schemeClr val="bg1"/>
                </a:solidFill>
              </a:rPr>
              <a:t>, b</a:t>
            </a:r>
            <a:r>
              <a:rPr lang="en-US" sz="1200" i="1" baseline="-25000" dirty="0">
                <a:solidFill>
                  <a:schemeClr val="bg1"/>
                </a:solidFill>
              </a:rPr>
              <a:t>out </a:t>
            </a:r>
            <a:r>
              <a:rPr lang="en-US" sz="1200" i="1" dirty="0">
                <a:solidFill>
                  <a:schemeClr val="bg1"/>
                </a:solidFill>
              </a:rPr>
              <a:t>]</a:t>
            </a: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E22A04B0-D38E-9C4D-4DED-0AA2B9FFBC1F}"/>
              </a:ext>
            </a:extLst>
          </p:cNvPr>
          <p:cNvSpPr/>
          <p:nvPr/>
        </p:nvSpPr>
        <p:spPr>
          <a:xfrm>
            <a:off x="5240055" y="3238378"/>
            <a:ext cx="1115643" cy="3830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96490BAE-FF0F-CD24-6AB7-458706F86A04}"/>
              </a:ext>
            </a:extLst>
          </p:cNvPr>
          <p:cNvSpPr txBox="1"/>
          <p:nvPr/>
        </p:nvSpPr>
        <p:spPr>
          <a:xfrm>
            <a:off x="5129274" y="3221546"/>
            <a:ext cx="13003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Suppress Training Confidence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3414C720-15A8-4152-15A1-532A9FD0F31B}"/>
              </a:ext>
            </a:extLst>
          </p:cNvPr>
          <p:cNvSpPr/>
          <p:nvPr/>
        </p:nvSpPr>
        <p:spPr>
          <a:xfrm>
            <a:off x="5245507" y="3717880"/>
            <a:ext cx="1115643" cy="3830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4BEFC401-4F9B-D0F2-CB60-AE3305A12436}"/>
              </a:ext>
            </a:extLst>
          </p:cNvPr>
          <p:cNvSpPr txBox="1"/>
          <p:nvPr/>
        </p:nvSpPr>
        <p:spPr>
          <a:xfrm>
            <a:off x="5126105" y="3723574"/>
            <a:ext cx="1310125" cy="4000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Change </a:t>
            </a:r>
            <a:r>
              <a:rPr lang="en-US" sz="1000" i="1" dirty="0"/>
              <a:t>m</a:t>
            </a:r>
            <a:r>
              <a:rPr lang="en-US" sz="1000" dirty="0"/>
              <a:t> Classifications</a:t>
            </a:r>
          </a:p>
        </p:txBody>
      </p:sp>
      <p:pic>
        <p:nvPicPr>
          <p:cNvPr id="165" name="Graphic 164" descr="Single gear with solid fill">
            <a:extLst>
              <a:ext uri="{FF2B5EF4-FFF2-40B4-BE49-F238E27FC236}">
                <a16:creationId xmlns:a16="http://schemas.microsoft.com/office/drawing/2014/main" id="{775949D7-8949-BA7F-9FEA-B08E0C90AC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60430" y="3901710"/>
            <a:ext cx="297283" cy="297283"/>
          </a:xfrm>
          <a:prstGeom prst="rect">
            <a:avLst/>
          </a:prstGeom>
        </p:spPr>
      </p:pic>
      <p:pic>
        <p:nvPicPr>
          <p:cNvPr id="166" name="Graphic 165" descr="Single gear with solid fill">
            <a:extLst>
              <a:ext uri="{FF2B5EF4-FFF2-40B4-BE49-F238E27FC236}">
                <a16:creationId xmlns:a16="http://schemas.microsoft.com/office/drawing/2014/main" id="{3684C262-52B2-9A68-5867-62CC6D10C4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51883" y="3433519"/>
            <a:ext cx="297283" cy="297283"/>
          </a:xfrm>
          <a:prstGeom prst="rect">
            <a:avLst/>
          </a:prstGeom>
        </p:spPr>
      </p:pic>
      <p:cxnSp>
        <p:nvCxnSpPr>
          <p:cNvPr id="177" name="Elbow Connector 176">
            <a:extLst>
              <a:ext uri="{FF2B5EF4-FFF2-40B4-BE49-F238E27FC236}">
                <a16:creationId xmlns:a16="http://schemas.microsoft.com/office/drawing/2014/main" id="{569F23A7-2BF4-BE8F-49F8-1FB406F272A0}"/>
              </a:ext>
            </a:extLst>
          </p:cNvPr>
          <p:cNvCxnSpPr>
            <a:cxnSpLocks/>
            <a:stCxn id="6" idx="3"/>
            <a:endCxn id="154" idx="1"/>
          </p:cNvCxnSpPr>
          <p:nvPr/>
        </p:nvCxnSpPr>
        <p:spPr>
          <a:xfrm flipV="1">
            <a:off x="4924211" y="3421601"/>
            <a:ext cx="205063" cy="244998"/>
          </a:xfrm>
          <a:prstGeom prst="bentConnector3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8" name="Elbow Connector 177">
            <a:extLst>
              <a:ext uri="{FF2B5EF4-FFF2-40B4-BE49-F238E27FC236}">
                <a16:creationId xmlns:a16="http://schemas.microsoft.com/office/drawing/2014/main" id="{D4DE97B7-24F1-56B0-FE19-3E8D4D234801}"/>
              </a:ext>
            </a:extLst>
          </p:cNvPr>
          <p:cNvCxnSpPr>
            <a:cxnSpLocks/>
            <a:stCxn id="6" idx="3"/>
            <a:endCxn id="155" idx="1"/>
          </p:cNvCxnSpPr>
          <p:nvPr/>
        </p:nvCxnSpPr>
        <p:spPr>
          <a:xfrm>
            <a:off x="4924211" y="3666599"/>
            <a:ext cx="201894" cy="257023"/>
          </a:xfrm>
          <a:prstGeom prst="bentConnector3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Elbow Connector 180">
            <a:extLst>
              <a:ext uri="{FF2B5EF4-FFF2-40B4-BE49-F238E27FC236}">
                <a16:creationId xmlns:a16="http://schemas.microsoft.com/office/drawing/2014/main" id="{FA3FB3B0-4A0D-7F60-9BA1-69C1E21FDB42}"/>
              </a:ext>
            </a:extLst>
          </p:cNvPr>
          <p:cNvCxnSpPr>
            <a:cxnSpLocks/>
            <a:stCxn id="155" idx="3"/>
            <a:endCxn id="3" idx="1"/>
          </p:cNvCxnSpPr>
          <p:nvPr/>
        </p:nvCxnSpPr>
        <p:spPr>
          <a:xfrm>
            <a:off x="6436230" y="3923622"/>
            <a:ext cx="306309" cy="214880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Elbow Connector 183">
            <a:extLst>
              <a:ext uri="{FF2B5EF4-FFF2-40B4-BE49-F238E27FC236}">
                <a16:creationId xmlns:a16="http://schemas.microsoft.com/office/drawing/2014/main" id="{1F1A49FF-7274-AFEB-C5F7-55EFC66DA489}"/>
              </a:ext>
            </a:extLst>
          </p:cNvPr>
          <p:cNvCxnSpPr>
            <a:cxnSpLocks/>
            <a:stCxn id="154" idx="3"/>
            <a:endCxn id="9" idx="1"/>
          </p:cNvCxnSpPr>
          <p:nvPr/>
        </p:nvCxnSpPr>
        <p:spPr>
          <a:xfrm flipV="1">
            <a:off x="6429605" y="3202046"/>
            <a:ext cx="312934" cy="219555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7" name="TextBox 186">
            <a:extLst>
              <a:ext uri="{FF2B5EF4-FFF2-40B4-BE49-F238E27FC236}">
                <a16:creationId xmlns:a16="http://schemas.microsoft.com/office/drawing/2014/main" id="{68C4F442-3CB0-C6AD-5B5C-D86D82580B98}"/>
              </a:ext>
            </a:extLst>
          </p:cNvPr>
          <p:cNvSpPr txBox="1"/>
          <p:nvPr/>
        </p:nvSpPr>
        <p:spPr>
          <a:xfrm>
            <a:off x="6707394" y="3115510"/>
            <a:ext cx="13109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i="1" dirty="0">
                <a:solidFill>
                  <a:schemeClr val="bg1"/>
                </a:solidFill>
              </a:rPr>
              <a:t>[W</a:t>
            </a:r>
            <a:r>
              <a:rPr lang="en-US" sz="1200" i="1" baseline="-25000" dirty="0">
                <a:solidFill>
                  <a:schemeClr val="bg1"/>
                </a:solidFill>
              </a:rPr>
              <a:t>out</a:t>
            </a:r>
            <a:r>
              <a:rPr lang="en-US" sz="1200" i="1" dirty="0">
                <a:solidFill>
                  <a:schemeClr val="bg1"/>
                </a:solidFill>
              </a:rPr>
              <a:t> + W</a:t>
            </a:r>
            <a:r>
              <a:rPr lang="en-US" sz="1200" i="1" baseline="-25000" dirty="0">
                <a:solidFill>
                  <a:schemeClr val="bg1"/>
                </a:solidFill>
              </a:rPr>
              <a:t>out, offset </a:t>
            </a:r>
            <a:r>
              <a:rPr lang="en-US" sz="1200" i="1" dirty="0">
                <a:solidFill>
                  <a:schemeClr val="bg1"/>
                </a:solidFill>
              </a:rPr>
              <a:t>, </a:t>
            </a:r>
          </a:p>
          <a:p>
            <a:pPr algn="ctr"/>
            <a:r>
              <a:rPr lang="en-US" sz="1200" i="1" dirty="0">
                <a:solidFill>
                  <a:schemeClr val="bg1"/>
                </a:solidFill>
              </a:rPr>
              <a:t>b</a:t>
            </a:r>
            <a:r>
              <a:rPr lang="en-US" sz="1200" i="1" baseline="-25000" dirty="0">
                <a:solidFill>
                  <a:schemeClr val="bg1"/>
                </a:solidFill>
              </a:rPr>
              <a:t>out </a:t>
            </a:r>
            <a:r>
              <a:rPr lang="en-US" sz="1200" i="1" dirty="0">
                <a:solidFill>
                  <a:schemeClr val="bg1"/>
                </a:solidFill>
              </a:rPr>
              <a:t> + b</a:t>
            </a:r>
            <a:r>
              <a:rPr lang="en-US" sz="1200" i="1" baseline="-25000" dirty="0">
                <a:solidFill>
                  <a:schemeClr val="bg1"/>
                </a:solidFill>
              </a:rPr>
              <a:t>out, offset </a:t>
            </a:r>
            <a:r>
              <a:rPr lang="en-US" sz="1200" i="1" dirty="0">
                <a:solidFill>
                  <a:schemeClr val="bg1"/>
                </a:solidFill>
              </a:rPr>
              <a:t>]</a:t>
            </a:r>
          </a:p>
        </p:txBody>
      </p:sp>
      <p:grpSp>
        <p:nvGrpSpPr>
          <p:cNvPr id="188" name="Group 187">
            <a:extLst>
              <a:ext uri="{FF2B5EF4-FFF2-40B4-BE49-F238E27FC236}">
                <a16:creationId xmlns:a16="http://schemas.microsoft.com/office/drawing/2014/main" id="{A8C0DBC4-F6F8-0EB3-C9CA-7269B8F75055}"/>
              </a:ext>
            </a:extLst>
          </p:cNvPr>
          <p:cNvGrpSpPr/>
          <p:nvPr/>
        </p:nvGrpSpPr>
        <p:grpSpPr>
          <a:xfrm>
            <a:off x="8207405" y="2841432"/>
            <a:ext cx="1553710" cy="1644345"/>
            <a:chOff x="1512541" y="2420066"/>
            <a:chExt cx="1553710" cy="1644345"/>
          </a:xfrm>
        </p:grpSpPr>
        <p:sp>
          <p:nvSpPr>
            <p:cNvPr id="189" name="Snip Diagonal Corner Rectangle 188">
              <a:extLst>
                <a:ext uri="{FF2B5EF4-FFF2-40B4-BE49-F238E27FC236}">
                  <a16:creationId xmlns:a16="http://schemas.microsoft.com/office/drawing/2014/main" id="{77E48A2E-A6FA-BE9A-C78A-FC2CA97C2F3B}"/>
                </a:ext>
              </a:extLst>
            </p:cNvPr>
            <p:cNvSpPr/>
            <p:nvPr/>
          </p:nvSpPr>
          <p:spPr>
            <a:xfrm>
              <a:off x="1512541" y="2420066"/>
              <a:ext cx="1485041" cy="1644345"/>
            </a:xfrm>
            <a:prstGeom prst="snip2Diag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0" name="Manual Operation 189">
              <a:extLst>
                <a:ext uri="{FF2B5EF4-FFF2-40B4-BE49-F238E27FC236}">
                  <a16:creationId xmlns:a16="http://schemas.microsoft.com/office/drawing/2014/main" id="{0728427A-06C7-5D4A-B702-F831C0BEF255}"/>
                </a:ext>
              </a:extLst>
            </p:cNvPr>
            <p:cNvSpPr/>
            <p:nvPr/>
          </p:nvSpPr>
          <p:spPr>
            <a:xfrm rot="16200000">
              <a:off x="1189730" y="3071180"/>
              <a:ext cx="1051805" cy="200042"/>
            </a:xfrm>
            <a:prstGeom prst="flowChartManualOperation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1" name="Manual Operation 190">
              <a:extLst>
                <a:ext uri="{FF2B5EF4-FFF2-40B4-BE49-F238E27FC236}">
                  <a16:creationId xmlns:a16="http://schemas.microsoft.com/office/drawing/2014/main" id="{71465BC0-09D1-C22F-8B6C-CC03B3B5DFB1}"/>
                </a:ext>
              </a:extLst>
            </p:cNvPr>
            <p:cNvSpPr/>
            <p:nvPr/>
          </p:nvSpPr>
          <p:spPr>
            <a:xfrm rot="16200000">
              <a:off x="1289752" y="3071180"/>
              <a:ext cx="1051805" cy="200042"/>
            </a:xfrm>
            <a:prstGeom prst="flowChartManualOperation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2" name="Manual Operation 191">
              <a:extLst>
                <a:ext uri="{FF2B5EF4-FFF2-40B4-BE49-F238E27FC236}">
                  <a16:creationId xmlns:a16="http://schemas.microsoft.com/office/drawing/2014/main" id="{F934950F-1C40-710E-C4E4-6D9D07C9A197}"/>
                </a:ext>
              </a:extLst>
            </p:cNvPr>
            <p:cNvSpPr/>
            <p:nvPr/>
          </p:nvSpPr>
          <p:spPr>
            <a:xfrm rot="16200000">
              <a:off x="1389775" y="3071180"/>
              <a:ext cx="1051805" cy="200042"/>
            </a:xfrm>
            <a:prstGeom prst="flowChartManualOperation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3" name="Rectangle 192">
              <a:extLst>
                <a:ext uri="{FF2B5EF4-FFF2-40B4-BE49-F238E27FC236}">
                  <a16:creationId xmlns:a16="http://schemas.microsoft.com/office/drawing/2014/main" id="{11289DF1-A546-7757-AC73-277F7899971B}"/>
                </a:ext>
              </a:extLst>
            </p:cNvPr>
            <p:cNvSpPr/>
            <p:nvPr/>
          </p:nvSpPr>
          <p:spPr>
            <a:xfrm>
              <a:off x="2220147" y="2707945"/>
              <a:ext cx="151391" cy="926511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4" name="Oval 193">
              <a:extLst>
                <a:ext uri="{FF2B5EF4-FFF2-40B4-BE49-F238E27FC236}">
                  <a16:creationId xmlns:a16="http://schemas.microsoft.com/office/drawing/2014/main" id="{685486AD-07DB-0BD6-B8E1-DF8BE5928E37}"/>
                </a:ext>
              </a:extLst>
            </p:cNvPr>
            <p:cNvSpPr/>
            <p:nvPr/>
          </p:nvSpPr>
          <p:spPr>
            <a:xfrm>
              <a:off x="2252176" y="2739810"/>
              <a:ext cx="89321" cy="89321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5" name="Oval 194">
              <a:extLst>
                <a:ext uri="{FF2B5EF4-FFF2-40B4-BE49-F238E27FC236}">
                  <a16:creationId xmlns:a16="http://schemas.microsoft.com/office/drawing/2014/main" id="{B187F733-5234-8528-F381-1F904CF9FE54}"/>
                </a:ext>
              </a:extLst>
            </p:cNvPr>
            <p:cNvSpPr/>
            <p:nvPr/>
          </p:nvSpPr>
          <p:spPr>
            <a:xfrm>
              <a:off x="2252176" y="2898560"/>
              <a:ext cx="89321" cy="89321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6" name="Oval 195">
              <a:extLst>
                <a:ext uri="{FF2B5EF4-FFF2-40B4-BE49-F238E27FC236}">
                  <a16:creationId xmlns:a16="http://schemas.microsoft.com/office/drawing/2014/main" id="{CB70E653-1438-BF19-77CC-E9FB7A5763FB}"/>
                </a:ext>
              </a:extLst>
            </p:cNvPr>
            <p:cNvSpPr/>
            <p:nvPr/>
          </p:nvSpPr>
          <p:spPr>
            <a:xfrm>
              <a:off x="2252176" y="3057310"/>
              <a:ext cx="89321" cy="89321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7" name="Oval 196">
              <a:extLst>
                <a:ext uri="{FF2B5EF4-FFF2-40B4-BE49-F238E27FC236}">
                  <a16:creationId xmlns:a16="http://schemas.microsoft.com/office/drawing/2014/main" id="{59D97596-42D7-E4A5-E1E1-C36DC7BA8ACA}"/>
                </a:ext>
              </a:extLst>
            </p:cNvPr>
            <p:cNvSpPr/>
            <p:nvPr/>
          </p:nvSpPr>
          <p:spPr>
            <a:xfrm>
              <a:off x="2252176" y="3216060"/>
              <a:ext cx="89321" cy="89321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8" name="Oval 197">
              <a:extLst>
                <a:ext uri="{FF2B5EF4-FFF2-40B4-BE49-F238E27FC236}">
                  <a16:creationId xmlns:a16="http://schemas.microsoft.com/office/drawing/2014/main" id="{406B4BDB-3253-70E5-432A-16BDD15E04AB}"/>
                </a:ext>
              </a:extLst>
            </p:cNvPr>
            <p:cNvSpPr/>
            <p:nvPr/>
          </p:nvSpPr>
          <p:spPr>
            <a:xfrm>
              <a:off x="2251181" y="3509789"/>
              <a:ext cx="89321" cy="89321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99" name="Group 198">
              <a:extLst>
                <a:ext uri="{FF2B5EF4-FFF2-40B4-BE49-F238E27FC236}">
                  <a16:creationId xmlns:a16="http://schemas.microsoft.com/office/drawing/2014/main" id="{88EE6A40-CEFF-D671-4E6E-4CB5012F8FF2}"/>
                </a:ext>
              </a:extLst>
            </p:cNvPr>
            <p:cNvGrpSpPr/>
            <p:nvPr/>
          </p:nvGrpSpPr>
          <p:grpSpPr>
            <a:xfrm>
              <a:off x="2281601" y="3336084"/>
              <a:ext cx="28479" cy="143002"/>
              <a:chOff x="1894524" y="3343275"/>
              <a:chExt cx="28479" cy="143002"/>
            </a:xfrm>
          </p:grpSpPr>
          <p:sp>
            <p:nvSpPr>
              <p:cNvPr id="217" name="Oval 216">
                <a:extLst>
                  <a:ext uri="{FF2B5EF4-FFF2-40B4-BE49-F238E27FC236}">
                    <a16:creationId xmlns:a16="http://schemas.microsoft.com/office/drawing/2014/main" id="{6837837B-4050-49AD-A313-161624BDA970}"/>
                  </a:ext>
                </a:extLst>
              </p:cNvPr>
              <p:cNvSpPr/>
              <p:nvPr/>
            </p:nvSpPr>
            <p:spPr>
              <a:xfrm flipH="1">
                <a:off x="1894524" y="3401568"/>
                <a:ext cx="27432" cy="2743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8" name="Oval 217">
                <a:extLst>
                  <a:ext uri="{FF2B5EF4-FFF2-40B4-BE49-F238E27FC236}">
                    <a16:creationId xmlns:a16="http://schemas.microsoft.com/office/drawing/2014/main" id="{BC9F9D2A-9B55-36E3-4341-E85ED3F7062F}"/>
                  </a:ext>
                </a:extLst>
              </p:cNvPr>
              <p:cNvSpPr/>
              <p:nvPr/>
            </p:nvSpPr>
            <p:spPr>
              <a:xfrm flipH="1">
                <a:off x="1895571" y="3343275"/>
                <a:ext cx="27432" cy="2743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9" name="Oval 218">
                <a:extLst>
                  <a:ext uri="{FF2B5EF4-FFF2-40B4-BE49-F238E27FC236}">
                    <a16:creationId xmlns:a16="http://schemas.microsoft.com/office/drawing/2014/main" id="{552A2A05-E85B-40DC-80AA-368997F92C06}"/>
                  </a:ext>
                </a:extLst>
              </p:cNvPr>
              <p:cNvSpPr/>
              <p:nvPr/>
            </p:nvSpPr>
            <p:spPr>
              <a:xfrm flipH="1">
                <a:off x="1894524" y="3458845"/>
                <a:ext cx="27432" cy="2743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00" name="Rectangle 199">
              <a:extLst>
                <a:ext uri="{FF2B5EF4-FFF2-40B4-BE49-F238E27FC236}">
                  <a16:creationId xmlns:a16="http://schemas.microsoft.com/office/drawing/2014/main" id="{CA946C4E-282D-347A-119A-9F7D15A8966B}"/>
                </a:ext>
              </a:extLst>
            </p:cNvPr>
            <p:cNvSpPr/>
            <p:nvPr/>
          </p:nvSpPr>
          <p:spPr>
            <a:xfrm>
              <a:off x="2686872" y="2707945"/>
              <a:ext cx="151391" cy="926511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1" name="Oval 200">
              <a:extLst>
                <a:ext uri="{FF2B5EF4-FFF2-40B4-BE49-F238E27FC236}">
                  <a16:creationId xmlns:a16="http://schemas.microsoft.com/office/drawing/2014/main" id="{8D84D7CE-9C1B-E494-4BA0-B8B09EF41CC0}"/>
                </a:ext>
              </a:extLst>
            </p:cNvPr>
            <p:cNvSpPr/>
            <p:nvPr/>
          </p:nvSpPr>
          <p:spPr>
            <a:xfrm>
              <a:off x="2718901" y="2739810"/>
              <a:ext cx="89321" cy="89321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2" name="Oval 201">
              <a:extLst>
                <a:ext uri="{FF2B5EF4-FFF2-40B4-BE49-F238E27FC236}">
                  <a16:creationId xmlns:a16="http://schemas.microsoft.com/office/drawing/2014/main" id="{91B7C289-957B-5961-B873-ECED17B04678}"/>
                </a:ext>
              </a:extLst>
            </p:cNvPr>
            <p:cNvSpPr/>
            <p:nvPr/>
          </p:nvSpPr>
          <p:spPr>
            <a:xfrm>
              <a:off x="2718901" y="2898560"/>
              <a:ext cx="89321" cy="89321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3" name="Oval 202">
              <a:extLst>
                <a:ext uri="{FF2B5EF4-FFF2-40B4-BE49-F238E27FC236}">
                  <a16:creationId xmlns:a16="http://schemas.microsoft.com/office/drawing/2014/main" id="{09A262E0-87F8-85E4-35C7-ABCE58125C90}"/>
                </a:ext>
              </a:extLst>
            </p:cNvPr>
            <p:cNvSpPr/>
            <p:nvPr/>
          </p:nvSpPr>
          <p:spPr>
            <a:xfrm>
              <a:off x="2718901" y="3057310"/>
              <a:ext cx="89321" cy="89321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4" name="Oval 203">
              <a:extLst>
                <a:ext uri="{FF2B5EF4-FFF2-40B4-BE49-F238E27FC236}">
                  <a16:creationId xmlns:a16="http://schemas.microsoft.com/office/drawing/2014/main" id="{2016207C-576B-CA3D-D435-DAD31D3FF1E9}"/>
                </a:ext>
              </a:extLst>
            </p:cNvPr>
            <p:cNvSpPr/>
            <p:nvPr/>
          </p:nvSpPr>
          <p:spPr>
            <a:xfrm>
              <a:off x="2718901" y="3216060"/>
              <a:ext cx="89321" cy="89321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" name="Oval 204">
              <a:extLst>
                <a:ext uri="{FF2B5EF4-FFF2-40B4-BE49-F238E27FC236}">
                  <a16:creationId xmlns:a16="http://schemas.microsoft.com/office/drawing/2014/main" id="{88D81E20-29AD-A08B-B58A-7F727674EBB6}"/>
                </a:ext>
              </a:extLst>
            </p:cNvPr>
            <p:cNvSpPr/>
            <p:nvPr/>
          </p:nvSpPr>
          <p:spPr>
            <a:xfrm>
              <a:off x="2717906" y="3509789"/>
              <a:ext cx="89321" cy="89321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06" name="Group 205">
              <a:extLst>
                <a:ext uri="{FF2B5EF4-FFF2-40B4-BE49-F238E27FC236}">
                  <a16:creationId xmlns:a16="http://schemas.microsoft.com/office/drawing/2014/main" id="{EADFC12C-84D2-2781-2D91-1F61904165FB}"/>
                </a:ext>
              </a:extLst>
            </p:cNvPr>
            <p:cNvGrpSpPr/>
            <p:nvPr/>
          </p:nvGrpSpPr>
          <p:grpSpPr>
            <a:xfrm>
              <a:off x="2748326" y="3336084"/>
              <a:ext cx="28479" cy="143002"/>
              <a:chOff x="1894524" y="3343275"/>
              <a:chExt cx="28479" cy="143002"/>
            </a:xfrm>
          </p:grpSpPr>
          <p:sp>
            <p:nvSpPr>
              <p:cNvPr id="214" name="Oval 213">
                <a:extLst>
                  <a:ext uri="{FF2B5EF4-FFF2-40B4-BE49-F238E27FC236}">
                    <a16:creationId xmlns:a16="http://schemas.microsoft.com/office/drawing/2014/main" id="{DF79EE7A-B53F-113A-E1C9-93F0CC30B030}"/>
                  </a:ext>
                </a:extLst>
              </p:cNvPr>
              <p:cNvSpPr/>
              <p:nvPr/>
            </p:nvSpPr>
            <p:spPr>
              <a:xfrm flipH="1">
                <a:off x="1894524" y="3401568"/>
                <a:ext cx="27432" cy="2743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5" name="Oval 214">
                <a:extLst>
                  <a:ext uri="{FF2B5EF4-FFF2-40B4-BE49-F238E27FC236}">
                    <a16:creationId xmlns:a16="http://schemas.microsoft.com/office/drawing/2014/main" id="{D43172D5-14FC-64E7-E2F5-9823ECDE6562}"/>
                  </a:ext>
                </a:extLst>
              </p:cNvPr>
              <p:cNvSpPr/>
              <p:nvPr/>
            </p:nvSpPr>
            <p:spPr>
              <a:xfrm flipH="1">
                <a:off x="1895571" y="3343275"/>
                <a:ext cx="27432" cy="2743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6" name="Oval 215">
                <a:extLst>
                  <a:ext uri="{FF2B5EF4-FFF2-40B4-BE49-F238E27FC236}">
                    <a16:creationId xmlns:a16="http://schemas.microsoft.com/office/drawing/2014/main" id="{928D5B24-FC57-8DDF-1921-B5484E583998}"/>
                  </a:ext>
                </a:extLst>
              </p:cNvPr>
              <p:cNvSpPr/>
              <p:nvPr/>
            </p:nvSpPr>
            <p:spPr>
              <a:xfrm flipH="1">
                <a:off x="1894524" y="3458845"/>
                <a:ext cx="27432" cy="27432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07" name="Straight Arrow Connector 206">
              <a:extLst>
                <a:ext uri="{FF2B5EF4-FFF2-40B4-BE49-F238E27FC236}">
                  <a16:creationId xmlns:a16="http://schemas.microsoft.com/office/drawing/2014/main" id="{DEC91701-A670-E0CD-2BCF-8C8BD84B9234}"/>
                </a:ext>
              </a:extLst>
            </p:cNvPr>
            <p:cNvCxnSpPr>
              <a:stCxn id="192" idx="2"/>
              <a:endCxn id="193" idx="1"/>
            </p:cNvCxnSpPr>
            <p:nvPr/>
          </p:nvCxnSpPr>
          <p:spPr>
            <a:xfrm>
              <a:off x="2015699" y="3171201"/>
              <a:ext cx="204448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Straight Arrow Connector 207">
              <a:extLst>
                <a:ext uri="{FF2B5EF4-FFF2-40B4-BE49-F238E27FC236}">
                  <a16:creationId xmlns:a16="http://schemas.microsoft.com/office/drawing/2014/main" id="{DECC4D0F-BE10-5F45-236A-ABB302770282}"/>
                </a:ext>
              </a:extLst>
            </p:cNvPr>
            <p:cNvCxnSpPr>
              <a:cxnSpLocks/>
              <a:stCxn id="193" idx="3"/>
              <a:endCxn id="200" idx="1"/>
            </p:cNvCxnSpPr>
            <p:nvPr/>
          </p:nvCxnSpPr>
          <p:spPr>
            <a:xfrm>
              <a:off x="2371538" y="3171201"/>
              <a:ext cx="315334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DCF057BF-F466-0C7E-2DA3-9267A0B15D49}"/>
                </a:ext>
              </a:extLst>
            </p:cNvPr>
            <p:cNvSpPr txBox="1"/>
            <p:nvPr/>
          </p:nvSpPr>
          <p:spPr>
            <a:xfrm>
              <a:off x="1587347" y="3742972"/>
              <a:ext cx="45661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CNN</a:t>
              </a:r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184F4A81-4D26-F08E-9E61-2E0C2F221351}"/>
                </a:ext>
              </a:extLst>
            </p:cNvPr>
            <p:cNvSpPr txBox="1"/>
            <p:nvPr/>
          </p:nvSpPr>
          <p:spPr>
            <a:xfrm>
              <a:off x="2043961" y="3664301"/>
              <a:ext cx="51721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FC Layer</a:t>
              </a:r>
            </a:p>
          </p:txBody>
        </p:sp>
        <p:sp>
          <p:nvSpPr>
            <p:cNvPr id="211" name="TextBox 210">
              <a:extLst>
                <a:ext uri="{FF2B5EF4-FFF2-40B4-BE49-F238E27FC236}">
                  <a16:creationId xmlns:a16="http://schemas.microsoft.com/office/drawing/2014/main" id="{EC95986C-DC3E-81ED-D93D-619095FF2209}"/>
                </a:ext>
              </a:extLst>
            </p:cNvPr>
            <p:cNvSpPr txBox="1"/>
            <p:nvPr/>
          </p:nvSpPr>
          <p:spPr>
            <a:xfrm>
              <a:off x="2485264" y="3664301"/>
              <a:ext cx="58098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Output Layer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2" name="TextBox 211">
                  <a:extLst>
                    <a:ext uri="{FF2B5EF4-FFF2-40B4-BE49-F238E27FC236}">
                      <a16:creationId xmlns:a16="http://schemas.microsoft.com/office/drawing/2014/main" id="{D5B9B435-8F95-DD44-5D25-68F4A981EE98}"/>
                    </a:ext>
                  </a:extLst>
                </p:cNvPr>
                <p:cNvSpPr txBox="1"/>
                <p:nvPr/>
              </p:nvSpPr>
              <p:spPr>
                <a:xfrm>
                  <a:off x="2298950" y="2919641"/>
                  <a:ext cx="460511" cy="24551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̅"/>
                            <m:ctrlPr>
                              <a:rPr lang="en-US" sz="100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i="1" dirty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</m:acc>
                        <m:r>
                          <a:rPr lang="en-US" sz="1000" b="0" i="1" baseline="-25000" dirty="0" smtClean="0">
                            <a:latin typeface="Cambria Math" panose="02040503050406030204" pitchFamily="18" charset="0"/>
                          </a:rPr>
                          <m:t>𝑜𝑢𝑡</m:t>
                        </m:r>
                      </m:oMath>
                    </m:oMathPara>
                  </a14:m>
                  <a:endParaRPr lang="en-US" sz="1000" i="1" baseline="-25000" dirty="0"/>
                </a:p>
              </p:txBody>
            </p:sp>
          </mc:Choice>
          <mc:Fallback xmlns="">
            <p:sp>
              <p:nvSpPr>
                <p:cNvPr id="212" name="TextBox 211">
                  <a:extLst>
                    <a:ext uri="{FF2B5EF4-FFF2-40B4-BE49-F238E27FC236}">
                      <a16:creationId xmlns:a16="http://schemas.microsoft.com/office/drawing/2014/main" id="{D5B9B435-8F95-DD44-5D25-68F4A981EE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98950" y="2919641"/>
                  <a:ext cx="460511" cy="245516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3" name="TextBox 212">
                  <a:extLst>
                    <a:ext uri="{FF2B5EF4-FFF2-40B4-BE49-F238E27FC236}">
                      <a16:creationId xmlns:a16="http://schemas.microsoft.com/office/drawing/2014/main" id="{4CE4BA8E-1218-7033-84A0-A8A594B4A150}"/>
                    </a:ext>
                  </a:extLst>
                </p:cNvPr>
                <p:cNvSpPr txBox="1"/>
                <p:nvPr/>
              </p:nvSpPr>
              <p:spPr>
                <a:xfrm>
                  <a:off x="2339890" y="3148906"/>
                  <a:ext cx="378630" cy="24955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̅"/>
                            <m:ctrlPr>
                              <a:rPr lang="en-US" sz="100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1" dirty="0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en-US" sz="1000" i="1" baseline="-25000" dirty="0">
                            <a:latin typeface="Cambria Math" panose="02040503050406030204" pitchFamily="18" charset="0"/>
                          </a:rPr>
                          <m:t>𝑜𝑢𝑡</m:t>
                        </m:r>
                      </m:oMath>
                    </m:oMathPara>
                  </a14:m>
                  <a:endParaRPr lang="en-US" sz="1000" i="1" baseline="-25000" dirty="0"/>
                </a:p>
              </p:txBody>
            </p:sp>
          </mc:Choice>
          <mc:Fallback xmlns="">
            <p:sp>
              <p:nvSpPr>
                <p:cNvPr id="213" name="TextBox 212">
                  <a:extLst>
                    <a:ext uri="{FF2B5EF4-FFF2-40B4-BE49-F238E27FC236}">
                      <a16:creationId xmlns:a16="http://schemas.microsoft.com/office/drawing/2014/main" id="{4CE4BA8E-1218-7033-84A0-A8A594B4A1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39890" y="3148906"/>
                  <a:ext cx="378630" cy="249555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32" name="TextBox 231">
                <a:extLst>
                  <a:ext uri="{FF2B5EF4-FFF2-40B4-BE49-F238E27FC236}">
                    <a16:creationId xmlns:a16="http://schemas.microsoft.com/office/drawing/2014/main" id="{E1C86D80-E9D0-6AB2-F918-AFAF87CA781C}"/>
                  </a:ext>
                </a:extLst>
              </p:cNvPr>
              <p:cNvSpPr txBox="1"/>
              <p:nvPr/>
            </p:nvSpPr>
            <p:spPr>
              <a:xfrm>
                <a:off x="10095481" y="3200931"/>
                <a:ext cx="917046" cy="2811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200" i="1" dirty="0">
                    <a:solidFill>
                      <a:schemeClr val="bg1"/>
                    </a:solidFill>
                  </a:rPr>
                  <a:t>[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2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2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</m:acc>
                  </m:oMath>
                </a14:m>
                <a:r>
                  <a:rPr lang="en-US" sz="1200" i="1" baseline="-25000" dirty="0">
                    <a:solidFill>
                      <a:schemeClr val="bg1"/>
                    </a:solidFill>
                  </a:rPr>
                  <a:t>out </a:t>
                </a:r>
                <a:r>
                  <a:rPr lang="en-US" sz="1200" i="1" dirty="0">
                    <a:solidFill>
                      <a:schemeClr val="bg1"/>
                    </a:solidFill>
                  </a:rPr>
                  <a:t>,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2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200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acc>
                  </m:oMath>
                </a14:m>
                <a:r>
                  <a:rPr lang="en-US" sz="1200" i="1" baseline="-25000" dirty="0">
                    <a:solidFill>
                      <a:schemeClr val="bg1"/>
                    </a:solidFill>
                  </a:rPr>
                  <a:t>out </a:t>
                </a:r>
                <a:r>
                  <a:rPr lang="en-US" sz="1200" i="1" dirty="0">
                    <a:solidFill>
                      <a:schemeClr val="bg1"/>
                    </a:solidFill>
                  </a:rPr>
                  <a:t>]</a:t>
                </a:r>
              </a:p>
            </p:txBody>
          </p:sp>
        </mc:Choice>
        <mc:Fallback xmlns="">
          <p:sp>
            <p:nvSpPr>
              <p:cNvPr id="232" name="TextBox 231">
                <a:extLst>
                  <a:ext uri="{FF2B5EF4-FFF2-40B4-BE49-F238E27FC236}">
                    <a16:creationId xmlns:a16="http://schemas.microsoft.com/office/drawing/2014/main" id="{E1C86D80-E9D0-6AB2-F918-AFAF87CA78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95481" y="3200931"/>
                <a:ext cx="917046" cy="281103"/>
              </a:xfrm>
              <a:prstGeom prst="rect">
                <a:avLst/>
              </a:prstGeom>
              <a:blipFill>
                <a:blip r:embed="rId7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3" name="TextBox 232">
            <a:extLst>
              <a:ext uri="{FF2B5EF4-FFF2-40B4-BE49-F238E27FC236}">
                <a16:creationId xmlns:a16="http://schemas.microsoft.com/office/drawing/2014/main" id="{8E62AB69-864A-BE56-B693-BE9F53710708}"/>
              </a:ext>
            </a:extLst>
          </p:cNvPr>
          <p:cNvSpPr txBox="1"/>
          <p:nvPr/>
        </p:nvSpPr>
        <p:spPr>
          <a:xfrm>
            <a:off x="2065021" y="4764406"/>
            <a:ext cx="14477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Initial Training</a:t>
            </a:r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7C98C0FC-778B-9CD1-726C-B8F71E1991EB}"/>
              </a:ext>
            </a:extLst>
          </p:cNvPr>
          <p:cNvSpPr txBox="1"/>
          <p:nvPr/>
        </p:nvSpPr>
        <p:spPr>
          <a:xfrm>
            <a:off x="5126104" y="4656685"/>
            <a:ext cx="13035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Optimization: STC/</a:t>
            </a:r>
            <a:r>
              <a:rPr lang="en-US" sz="1400" dirty="0" err="1"/>
              <a:t>CmC</a:t>
            </a:r>
            <a:endParaRPr lang="en-US" sz="1400" dirty="0"/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1A00881C-E61C-DFD6-B706-9B19521AF8F0}"/>
              </a:ext>
            </a:extLst>
          </p:cNvPr>
          <p:cNvSpPr txBox="1"/>
          <p:nvPr/>
        </p:nvSpPr>
        <p:spPr>
          <a:xfrm>
            <a:off x="8204691" y="4656685"/>
            <a:ext cx="14836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Re-training With New Weights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DB52C17-1BEB-F4CF-B963-0D8560D9C322}"/>
              </a:ext>
            </a:extLst>
          </p:cNvPr>
          <p:cNvSpPr/>
          <p:nvPr/>
        </p:nvSpPr>
        <p:spPr>
          <a:xfrm>
            <a:off x="6742539" y="3728781"/>
            <a:ext cx="1230550" cy="819442"/>
          </a:xfrm>
          <a:prstGeom prst="roundRect">
            <a:avLst>
              <a:gd name="adj" fmla="val 34014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61AA38-F3EB-386C-1F87-2607FC5D2028}"/>
              </a:ext>
            </a:extLst>
          </p:cNvPr>
          <p:cNvSpPr txBox="1"/>
          <p:nvPr/>
        </p:nvSpPr>
        <p:spPr>
          <a:xfrm>
            <a:off x="6627911" y="3817938"/>
            <a:ext cx="145861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 err="1">
                <a:solidFill>
                  <a:schemeClr val="bg1"/>
                </a:solidFill>
              </a:rPr>
              <a:t>Model</a:t>
            </a:r>
            <a:r>
              <a:rPr lang="en-US" sz="1200" baseline="-25000" dirty="0" err="1">
                <a:solidFill>
                  <a:schemeClr val="bg1"/>
                </a:solidFill>
              </a:rPr>
              <a:t>G_CmC</a:t>
            </a:r>
            <a:endParaRPr lang="en-US" sz="1200" baseline="-25000" dirty="0">
              <a:solidFill>
                <a:schemeClr val="bg1"/>
              </a:solidFill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00AE59AE-527A-20B8-88AB-B7B22D41B786}"/>
              </a:ext>
            </a:extLst>
          </p:cNvPr>
          <p:cNvSpPr/>
          <p:nvPr/>
        </p:nvSpPr>
        <p:spPr>
          <a:xfrm>
            <a:off x="9938727" y="3728781"/>
            <a:ext cx="1230550" cy="819442"/>
          </a:xfrm>
          <a:prstGeom prst="roundRect">
            <a:avLst>
              <a:gd name="adj" fmla="val 34014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BB41842-3DB2-38B9-B0F3-E3C2CD3B84B4}"/>
              </a:ext>
            </a:extLst>
          </p:cNvPr>
          <p:cNvSpPr txBox="1"/>
          <p:nvPr/>
        </p:nvSpPr>
        <p:spPr>
          <a:xfrm>
            <a:off x="9824693" y="3823942"/>
            <a:ext cx="145861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 err="1">
                <a:solidFill>
                  <a:schemeClr val="bg1"/>
                </a:solidFill>
              </a:rPr>
              <a:t>Model</a:t>
            </a:r>
            <a:r>
              <a:rPr lang="en-US" sz="1200" baseline="-25000" dirty="0" err="1">
                <a:solidFill>
                  <a:schemeClr val="bg1"/>
                </a:solidFill>
              </a:rPr>
              <a:t>RT_CmC</a:t>
            </a:r>
            <a:endParaRPr lang="en-US" sz="1200" baseline="-25000" dirty="0">
              <a:solidFill>
                <a:schemeClr val="bg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FBA01C2-613F-1904-E210-087731FF144B}"/>
              </a:ext>
            </a:extLst>
          </p:cNvPr>
          <p:cNvSpPr txBox="1"/>
          <p:nvPr/>
        </p:nvSpPr>
        <p:spPr>
          <a:xfrm>
            <a:off x="6692673" y="4051966"/>
            <a:ext cx="13257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i="1" dirty="0">
                <a:solidFill>
                  <a:schemeClr val="bg1"/>
                </a:solidFill>
              </a:rPr>
              <a:t>[W</a:t>
            </a:r>
            <a:r>
              <a:rPr lang="en-US" sz="1200" i="1" baseline="-25000" dirty="0">
                <a:solidFill>
                  <a:schemeClr val="bg1"/>
                </a:solidFill>
              </a:rPr>
              <a:t>out</a:t>
            </a:r>
            <a:r>
              <a:rPr lang="en-US" sz="1200" i="1" dirty="0">
                <a:solidFill>
                  <a:schemeClr val="bg1"/>
                </a:solidFill>
              </a:rPr>
              <a:t> + W</a:t>
            </a:r>
            <a:r>
              <a:rPr lang="en-US" sz="1200" i="1" baseline="-25000" dirty="0">
                <a:solidFill>
                  <a:schemeClr val="bg1"/>
                </a:solidFill>
              </a:rPr>
              <a:t>out, offset </a:t>
            </a:r>
            <a:r>
              <a:rPr lang="en-US" sz="1200" i="1" dirty="0">
                <a:solidFill>
                  <a:schemeClr val="bg1"/>
                </a:solidFill>
              </a:rPr>
              <a:t>, </a:t>
            </a:r>
          </a:p>
          <a:p>
            <a:pPr algn="ctr"/>
            <a:r>
              <a:rPr lang="en-US" sz="1200" i="1" dirty="0">
                <a:solidFill>
                  <a:schemeClr val="bg1"/>
                </a:solidFill>
              </a:rPr>
              <a:t>b</a:t>
            </a:r>
            <a:r>
              <a:rPr lang="en-US" sz="1200" i="1" baseline="-25000" dirty="0">
                <a:solidFill>
                  <a:schemeClr val="bg1"/>
                </a:solidFill>
              </a:rPr>
              <a:t>out </a:t>
            </a:r>
            <a:r>
              <a:rPr lang="en-US" sz="1200" i="1" dirty="0">
                <a:solidFill>
                  <a:schemeClr val="bg1"/>
                </a:solidFill>
              </a:rPr>
              <a:t> + b</a:t>
            </a:r>
            <a:r>
              <a:rPr lang="en-US" sz="1200" i="1" baseline="-25000" dirty="0">
                <a:solidFill>
                  <a:schemeClr val="bg1"/>
                </a:solidFill>
              </a:rPr>
              <a:t>out, offset </a:t>
            </a:r>
            <a:r>
              <a:rPr lang="en-US" sz="1200" i="1" dirty="0">
                <a:solidFill>
                  <a:schemeClr val="bg1"/>
                </a:solidFill>
              </a:rPr>
              <a:t>]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D7B0D9E-BAA3-A6A9-A4A7-C3D6AF78DEDF}"/>
                  </a:ext>
                </a:extLst>
              </p:cNvPr>
              <p:cNvSpPr txBox="1"/>
              <p:nvPr/>
            </p:nvSpPr>
            <p:spPr>
              <a:xfrm>
                <a:off x="10095481" y="4137387"/>
                <a:ext cx="917046" cy="2811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200" i="1" dirty="0">
                    <a:solidFill>
                      <a:schemeClr val="bg1"/>
                    </a:solidFill>
                  </a:rPr>
                  <a:t>[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2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2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</m:acc>
                  </m:oMath>
                </a14:m>
                <a:r>
                  <a:rPr lang="en-US" sz="1200" i="1" baseline="-25000" dirty="0">
                    <a:solidFill>
                      <a:schemeClr val="bg1"/>
                    </a:solidFill>
                  </a:rPr>
                  <a:t>out </a:t>
                </a:r>
                <a:r>
                  <a:rPr lang="en-US" sz="1200" i="1" dirty="0">
                    <a:solidFill>
                      <a:schemeClr val="bg1"/>
                    </a:solidFill>
                  </a:rPr>
                  <a:t>,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2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200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acc>
                  </m:oMath>
                </a14:m>
                <a:r>
                  <a:rPr lang="en-US" sz="1200" i="1" baseline="-25000" dirty="0">
                    <a:solidFill>
                      <a:schemeClr val="bg1"/>
                    </a:solidFill>
                  </a:rPr>
                  <a:t>out </a:t>
                </a:r>
                <a:r>
                  <a:rPr lang="en-US" sz="1200" i="1" dirty="0">
                    <a:solidFill>
                      <a:schemeClr val="bg1"/>
                    </a:solidFill>
                  </a:rPr>
                  <a:t>]</a:t>
                </a: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D7B0D9E-BAA3-A6A9-A4A7-C3D6AF78DE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95481" y="4137387"/>
                <a:ext cx="917046" cy="281103"/>
              </a:xfrm>
              <a:prstGeom prst="rect">
                <a:avLst/>
              </a:prstGeom>
              <a:blipFill>
                <a:blip r:embed="rId8"/>
                <a:stretch>
                  <a:fillRect b="-17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0" name="Straight Arrow Connector 129">
            <a:extLst>
              <a:ext uri="{FF2B5EF4-FFF2-40B4-BE49-F238E27FC236}">
                <a16:creationId xmlns:a16="http://schemas.microsoft.com/office/drawing/2014/main" id="{83CBE9D7-332B-B247-C133-84C1351AC269}"/>
              </a:ext>
            </a:extLst>
          </p:cNvPr>
          <p:cNvCxnSpPr>
            <a:cxnSpLocks/>
            <a:stCxn id="3" idx="3"/>
          </p:cNvCxnSpPr>
          <p:nvPr/>
        </p:nvCxnSpPr>
        <p:spPr>
          <a:xfrm>
            <a:off x="7973089" y="4138502"/>
            <a:ext cx="231602" cy="0"/>
          </a:xfrm>
          <a:prstGeom prst="straightConnector1">
            <a:avLst/>
          </a:prstGeom>
          <a:ln w="1270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F4600DCB-6B50-C28F-5221-E4FB4B327AA8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9688341" y="4138502"/>
            <a:ext cx="250386" cy="0"/>
          </a:xfrm>
          <a:prstGeom prst="straightConnector1">
            <a:avLst/>
          </a:prstGeom>
          <a:ln w="1270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83680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110</Words>
  <Application>Microsoft Macintosh PowerPoint</Application>
  <PresentationFormat>Widescreen</PresentationFormat>
  <Paragraphs>33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Muyeed Ahmed</dc:creator>
  <cp:lastModifiedBy>Muyeed Ahmed</cp:lastModifiedBy>
  <cp:revision>7</cp:revision>
  <dcterms:created xsi:type="dcterms:W3CDTF">2025-07-05T01:16:10Z</dcterms:created>
  <dcterms:modified xsi:type="dcterms:W3CDTF">2025-07-29T18:33:29Z</dcterms:modified>
</cp:coreProperties>
</file>