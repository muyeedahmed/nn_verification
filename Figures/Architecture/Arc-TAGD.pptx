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6136"/>
    <p:restoredTop sz="94752"/>
  </p:normalViewPr>
  <p:slideViewPr>
    <p:cSldViewPr snapToGrid="0">
      <p:cViewPr>
        <p:scale>
          <a:sx n="170" d="100"/>
          <a:sy n="170" d="100"/>
        </p:scale>
        <p:origin x="-376" y="-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CD2412-33BF-174E-9BFB-FC072058772E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7E5854-22E2-6B48-A497-456478D097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03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function crop () { </a:t>
            </a:r>
            <a:r>
              <a:rPr lang="en-US" dirty="0" err="1"/>
              <a:t>pdfcrop</a:t>
            </a:r>
            <a:r>
              <a:rPr lang="en-US" dirty="0"/>
              <a:t> --</a:t>
            </a:r>
            <a:r>
              <a:rPr lang="en-US" dirty="0" err="1"/>
              <a:t>ini</a:t>
            </a:r>
            <a:r>
              <a:rPr lang="en-US" dirty="0"/>
              <a:t> $1 $1 &amp; 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7E5854-22E2-6B48-A497-456478D097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46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E499-FA40-31A1-4F48-26665F0B1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A2BE6-6F50-003B-26E0-DD4786422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14A5CC-1BD6-91E6-2C87-53BE888D2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25679-9FD8-199D-99FF-2D15D9711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166EF1-4FCD-250A-5457-24AF9F29A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80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0C532-FFEB-ECC4-6619-19BC42A3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CD1330-551C-3CF0-DCA3-E33DECF77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53646-6FB9-A513-55AC-6552E5049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A6F7E8-C425-A1B0-71C0-0BF4B6779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A81242-EAE3-0B22-EE62-3EE64B2D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27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1DCE-2691-45E9-9784-EB63E9EF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FD77C-AA7F-F0A2-AF0A-4C6293C69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0D7B88-1807-B111-9B11-FE2F5BB4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19912-93C7-1ADE-A15E-51B89CE9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4EB8D-C49D-C2C8-C3DD-9A8E19E2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421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58F49-D9AA-C0C5-BE24-BED92177F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0B73E-1601-8161-D3AB-D7266255DF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C9FC4-763E-AE9B-56C7-2BAD7DC27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498D68-7C7F-F1F0-9E52-DB66A5638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DC4F7-9601-F4B2-2543-7A99D52C7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F7C2DE-DBB2-1614-345E-E7E9E354C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38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033E0-2265-BF75-9A0D-EF0E3F73B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17B0A2-CB54-3FD8-793F-EBAC4AEAC8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31E6D-6C5E-B294-610F-34835E3EC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570C38-D131-8B59-F064-A130A48AEA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BA511F-7F52-7549-F8EE-BF5AC16634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C0E8F4-E846-D824-9BBA-20A94C01A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2F6C63-ACCE-5EFE-0AFC-FB8FACDF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AE6A52-66B6-DBB1-40AD-5F1171ED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5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09485-B905-79AE-D975-792EBCC47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01CBF8-E6D1-37C5-19A4-75360EC5C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DCD7A5-130A-1E8A-A784-158383578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85A6D0-6B45-0C07-0BD3-174D62427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2024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7563A5-E033-CF8A-030A-93A45DA85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67C36-BF14-8A60-274A-6282D30DB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9C1F6-536B-83E4-337D-90DA794B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6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E2CE5-160D-24C6-D831-10635857A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57A580-1379-ED45-78B0-23F4C41DB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8C2366-5B71-45CE-53D6-2F80238BD3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77D6F-2180-440F-AE70-D0B35C347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DF4D8-51F8-D3A4-BA2B-17F5BF779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CEDDC-47C8-2181-D3F5-7CA3837E9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72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385B7-0185-9687-C8D1-AD08D68FCB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344D2D-0C30-8E41-3436-DDA0415D40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76D6DD-CD6C-23BC-A328-00CF246F3E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38B03-4030-050E-0988-52B39295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FFFAB-43B3-9C0A-EF32-B79C2A87A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6450B2-3D94-6118-A43F-FBDDEDB83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032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E589A-B142-36BB-2E34-4FA6F63CC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BE2BC-F518-94FE-A069-0CF51E2961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58D5F-AAE6-6A5D-873E-FA4449F1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B9BD2-DC03-7573-A662-7E462C6D9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8FDE5-603B-ADE4-A951-987DC3107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656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76AC7F-6E70-5B9F-95C4-B59901A5C5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94FC1-4CCD-F6B5-07B1-196583F7F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F21A2-126B-6613-BFE8-C3D3F1A37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EA62B-5648-CF31-101A-8E01EFFC3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8BCF83-4655-B65F-1FC3-2693B3F5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05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8F5B28-A12B-1D34-D2EA-51E42DB3A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09F8E-705D-B6C5-F26B-F66F270FC6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6CE31-FD44-284B-2ED0-050FC65A5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CBD626-719E-6642-8185-D4E8F0C4BE28}" type="datetimeFigureOut">
              <a:rPr lang="en-US" smtClean="0"/>
              <a:t>1/16/26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377AB-8037-0651-EEAB-DFBB73B8EC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CA371-7666-66EF-81D8-9210063A9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F4F6AE-6F58-C040-95FD-2A3FD274CB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564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4C94-31D3-6DEB-37A5-B36C97011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n 1">
            <a:extLst>
              <a:ext uri="{FF2B5EF4-FFF2-40B4-BE49-F238E27FC236}">
                <a16:creationId xmlns:a16="http://schemas.microsoft.com/office/drawing/2014/main" id="{9F6A3129-63E5-4CFF-14B3-53DF209E1ADB}"/>
              </a:ext>
            </a:extLst>
          </p:cNvPr>
          <p:cNvSpPr/>
          <p:nvPr/>
        </p:nvSpPr>
        <p:spPr>
          <a:xfrm>
            <a:off x="1277546" y="3247532"/>
            <a:ext cx="677293" cy="551868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nip Diagonal Corner Rectangle 4">
            <a:extLst>
              <a:ext uri="{FF2B5EF4-FFF2-40B4-BE49-F238E27FC236}">
                <a16:creationId xmlns:a16="http://schemas.microsoft.com/office/drawing/2014/main" id="{E685BBE5-BF83-1C23-F2A3-22A41F7394D5}"/>
              </a:ext>
            </a:extLst>
          </p:cNvPr>
          <p:cNvSpPr/>
          <p:nvPr/>
        </p:nvSpPr>
        <p:spPr>
          <a:xfrm>
            <a:off x="4540158" y="2970877"/>
            <a:ext cx="1030755" cy="1523665"/>
          </a:xfrm>
          <a:prstGeom prst="snip2Diag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60CA342-4C0A-32A0-9500-B88DDF99BB28}"/>
              </a:ext>
            </a:extLst>
          </p:cNvPr>
          <p:cNvSpPr/>
          <p:nvPr/>
        </p:nvSpPr>
        <p:spPr>
          <a:xfrm>
            <a:off x="3517390" y="3322980"/>
            <a:ext cx="877452" cy="819442"/>
          </a:xfrm>
          <a:prstGeom prst="roundRect">
            <a:avLst>
              <a:gd name="adj" fmla="val 3401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40B8CB-8CA4-CB46-CFFD-65A5BCFEDDF4}"/>
              </a:ext>
            </a:extLst>
          </p:cNvPr>
          <p:cNvSpPr txBox="1"/>
          <p:nvPr/>
        </p:nvSpPr>
        <p:spPr>
          <a:xfrm>
            <a:off x="3224422" y="3409830"/>
            <a:ext cx="145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Model</a:t>
            </a:r>
            <a:r>
              <a:rPr lang="en-US" sz="1200" baseline="-25000" dirty="0" err="1">
                <a:solidFill>
                  <a:schemeClr val="bg1"/>
                </a:solidFill>
              </a:rPr>
              <a:t>Init</a:t>
            </a:r>
            <a:endParaRPr lang="en-US" sz="1200" baseline="-250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2553F5-32C9-87F5-5852-BD33944BCCB4}"/>
              </a:ext>
            </a:extLst>
          </p:cNvPr>
          <p:cNvSpPr txBox="1"/>
          <p:nvPr/>
        </p:nvSpPr>
        <p:spPr>
          <a:xfrm>
            <a:off x="4534988" y="3047996"/>
            <a:ext cx="1030755" cy="246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MILP Optimizer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6F669E7-5450-874C-154D-2FBBA28C56BC}"/>
              </a:ext>
            </a:extLst>
          </p:cNvPr>
          <p:cNvSpPr/>
          <p:nvPr/>
        </p:nvSpPr>
        <p:spPr>
          <a:xfrm>
            <a:off x="5685962" y="3320734"/>
            <a:ext cx="1144790" cy="819442"/>
          </a:xfrm>
          <a:prstGeom prst="roundRect">
            <a:avLst>
              <a:gd name="adj" fmla="val 34014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C0B7DA-EF06-8F30-BAF9-3F8D7DC63FA7}"/>
              </a:ext>
            </a:extLst>
          </p:cNvPr>
          <p:cNvSpPr txBox="1"/>
          <p:nvPr/>
        </p:nvSpPr>
        <p:spPr>
          <a:xfrm>
            <a:off x="5553519" y="3365357"/>
            <a:ext cx="14586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>
                <a:solidFill>
                  <a:schemeClr val="bg1"/>
                </a:solidFill>
              </a:rPr>
              <a:t>Model</a:t>
            </a:r>
            <a:r>
              <a:rPr lang="en-US" sz="1200" baseline="-25000" dirty="0" err="1">
                <a:solidFill>
                  <a:schemeClr val="bg1"/>
                </a:solidFill>
              </a:rPr>
              <a:t>G_TAGD</a:t>
            </a:r>
            <a:endParaRPr lang="en-US" sz="1200" baseline="-250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D755AA-5FF1-20AD-E4C4-6AD9F462F8D6}"/>
              </a:ext>
            </a:extLst>
          </p:cNvPr>
          <p:cNvSpPr txBox="1"/>
          <p:nvPr/>
        </p:nvSpPr>
        <p:spPr>
          <a:xfrm>
            <a:off x="980071" y="3826164"/>
            <a:ext cx="12722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Dataset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3B5D36-B190-EBE3-BCB1-F54B3EF05E9D}"/>
              </a:ext>
            </a:extLst>
          </p:cNvPr>
          <p:cNvCxnSpPr>
            <a:cxnSpLocks/>
            <a:stCxn id="36" idx="0"/>
            <a:endCxn id="6" idx="1"/>
          </p:cNvCxnSpPr>
          <p:nvPr/>
        </p:nvCxnSpPr>
        <p:spPr>
          <a:xfrm flipV="1">
            <a:off x="3400289" y="3732701"/>
            <a:ext cx="117101" cy="918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Elbow Connector 21">
            <a:extLst>
              <a:ext uri="{FF2B5EF4-FFF2-40B4-BE49-F238E27FC236}">
                <a16:creationId xmlns:a16="http://schemas.microsoft.com/office/drawing/2014/main" id="{6E288887-7656-3CE9-D813-96B428F2C2E0}"/>
              </a:ext>
            </a:extLst>
          </p:cNvPr>
          <p:cNvCxnSpPr>
            <a:cxnSpLocks/>
            <a:stCxn id="2" idx="1"/>
            <a:endCxn id="36" idx="3"/>
          </p:cNvCxnSpPr>
          <p:nvPr/>
        </p:nvCxnSpPr>
        <p:spPr>
          <a:xfrm rot="5400000" flipH="1" flipV="1">
            <a:off x="2026778" y="2560293"/>
            <a:ext cx="276654" cy="1097825"/>
          </a:xfrm>
          <a:prstGeom prst="bentConnector3">
            <a:avLst>
              <a:gd name="adj1" fmla="val 147410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Elbow Connector 22">
            <a:extLst>
              <a:ext uri="{FF2B5EF4-FFF2-40B4-BE49-F238E27FC236}">
                <a16:creationId xmlns:a16="http://schemas.microsoft.com/office/drawing/2014/main" id="{D356ACE2-49A8-C6F7-AFF5-A0ABB9F8FEED}"/>
              </a:ext>
            </a:extLst>
          </p:cNvPr>
          <p:cNvCxnSpPr>
            <a:cxnSpLocks/>
            <a:stCxn id="2" idx="1"/>
            <a:endCxn id="5" idx="3"/>
          </p:cNvCxnSpPr>
          <p:nvPr/>
        </p:nvCxnSpPr>
        <p:spPr>
          <a:xfrm rot="5400000" flipH="1" flipV="1">
            <a:off x="3197537" y="1389534"/>
            <a:ext cx="276655" cy="3439343"/>
          </a:xfrm>
          <a:prstGeom prst="bentConnector3">
            <a:avLst>
              <a:gd name="adj1" fmla="val 147411"/>
            </a:avLst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6" name="Snip Diagonal Corner Rectangle 35">
            <a:extLst>
              <a:ext uri="{FF2B5EF4-FFF2-40B4-BE49-F238E27FC236}">
                <a16:creationId xmlns:a16="http://schemas.microsoft.com/office/drawing/2014/main" id="{9AEA8A63-FC05-AFD2-81DB-90628C34DE10}"/>
              </a:ext>
            </a:extLst>
          </p:cNvPr>
          <p:cNvSpPr/>
          <p:nvPr/>
        </p:nvSpPr>
        <p:spPr>
          <a:xfrm>
            <a:off x="2027747" y="2970878"/>
            <a:ext cx="1372542" cy="1525482"/>
          </a:xfrm>
          <a:prstGeom prst="snip2Diag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Manual Operation 36">
            <a:extLst>
              <a:ext uri="{FF2B5EF4-FFF2-40B4-BE49-F238E27FC236}">
                <a16:creationId xmlns:a16="http://schemas.microsoft.com/office/drawing/2014/main" id="{4E32250D-5724-B7BD-E7FF-F8C1901598FD}"/>
              </a:ext>
            </a:extLst>
          </p:cNvPr>
          <p:cNvSpPr/>
          <p:nvPr/>
        </p:nvSpPr>
        <p:spPr>
          <a:xfrm rot="16200000">
            <a:off x="1660867" y="3492547"/>
            <a:ext cx="1051805" cy="200042"/>
          </a:xfrm>
          <a:prstGeom prst="flowChartManualOpe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Manual Operation 37">
            <a:extLst>
              <a:ext uri="{FF2B5EF4-FFF2-40B4-BE49-F238E27FC236}">
                <a16:creationId xmlns:a16="http://schemas.microsoft.com/office/drawing/2014/main" id="{0DB5ED32-563C-2F89-B7B3-3E9F7DDF601B}"/>
              </a:ext>
            </a:extLst>
          </p:cNvPr>
          <p:cNvSpPr/>
          <p:nvPr/>
        </p:nvSpPr>
        <p:spPr>
          <a:xfrm rot="16200000">
            <a:off x="1760889" y="3492547"/>
            <a:ext cx="1051805" cy="200042"/>
          </a:xfrm>
          <a:prstGeom prst="flowChartManualOpe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Manual Operation 38">
            <a:extLst>
              <a:ext uri="{FF2B5EF4-FFF2-40B4-BE49-F238E27FC236}">
                <a16:creationId xmlns:a16="http://schemas.microsoft.com/office/drawing/2014/main" id="{B14B1CC4-9F18-837D-B839-B8F62B21E438}"/>
              </a:ext>
            </a:extLst>
          </p:cNvPr>
          <p:cNvSpPr/>
          <p:nvPr/>
        </p:nvSpPr>
        <p:spPr>
          <a:xfrm rot="16200000">
            <a:off x="1860912" y="3492547"/>
            <a:ext cx="1051805" cy="200042"/>
          </a:xfrm>
          <a:prstGeom prst="flowChartManualOperat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1632FE5-B4BE-A35A-5A4F-94A2FC15232B}"/>
              </a:ext>
            </a:extLst>
          </p:cNvPr>
          <p:cNvSpPr/>
          <p:nvPr/>
        </p:nvSpPr>
        <p:spPr>
          <a:xfrm>
            <a:off x="2614165" y="3129312"/>
            <a:ext cx="151391" cy="926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7102D12-3FFA-B51F-9ABC-826CA40CB16E}"/>
              </a:ext>
            </a:extLst>
          </p:cNvPr>
          <p:cNvSpPr/>
          <p:nvPr/>
        </p:nvSpPr>
        <p:spPr>
          <a:xfrm>
            <a:off x="2646194" y="3161177"/>
            <a:ext cx="89321" cy="89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23D4E16-D406-EE41-FCFD-AEC9E5530E9F}"/>
              </a:ext>
            </a:extLst>
          </p:cNvPr>
          <p:cNvSpPr/>
          <p:nvPr/>
        </p:nvSpPr>
        <p:spPr>
          <a:xfrm>
            <a:off x="2646194" y="3319927"/>
            <a:ext cx="89321" cy="89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1F72D841-DEBF-B851-D97C-E631F4111B6B}"/>
              </a:ext>
            </a:extLst>
          </p:cNvPr>
          <p:cNvSpPr/>
          <p:nvPr/>
        </p:nvSpPr>
        <p:spPr>
          <a:xfrm>
            <a:off x="2646194" y="3478677"/>
            <a:ext cx="89321" cy="89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07CC1BF-73B2-6355-5066-ACC43362DDFA}"/>
              </a:ext>
            </a:extLst>
          </p:cNvPr>
          <p:cNvSpPr/>
          <p:nvPr/>
        </p:nvSpPr>
        <p:spPr>
          <a:xfrm>
            <a:off x="2646194" y="3637427"/>
            <a:ext cx="89321" cy="89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7B47824-8CB9-5F34-DDC7-153CC4229564}"/>
              </a:ext>
            </a:extLst>
          </p:cNvPr>
          <p:cNvSpPr/>
          <p:nvPr/>
        </p:nvSpPr>
        <p:spPr>
          <a:xfrm>
            <a:off x="2645199" y="3931156"/>
            <a:ext cx="89321" cy="89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BAA4CC3-9FFC-A989-6812-698066BF0045}"/>
              </a:ext>
            </a:extLst>
          </p:cNvPr>
          <p:cNvGrpSpPr/>
          <p:nvPr/>
        </p:nvGrpSpPr>
        <p:grpSpPr>
          <a:xfrm>
            <a:off x="2675619" y="3757451"/>
            <a:ext cx="28479" cy="143002"/>
            <a:chOff x="1894524" y="3343275"/>
            <a:chExt cx="28479" cy="143002"/>
          </a:xfrm>
        </p:grpSpPr>
        <p:sp>
          <p:nvSpPr>
            <p:cNvPr id="137" name="Oval 136">
              <a:extLst>
                <a:ext uri="{FF2B5EF4-FFF2-40B4-BE49-F238E27FC236}">
                  <a16:creationId xmlns:a16="http://schemas.microsoft.com/office/drawing/2014/main" id="{E17B5EC2-AF6C-C876-0AA8-2CABFCD46F88}"/>
                </a:ext>
              </a:extLst>
            </p:cNvPr>
            <p:cNvSpPr/>
            <p:nvPr/>
          </p:nvSpPr>
          <p:spPr>
            <a:xfrm flipH="1">
              <a:off x="1894524" y="3401568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Oval 137">
              <a:extLst>
                <a:ext uri="{FF2B5EF4-FFF2-40B4-BE49-F238E27FC236}">
                  <a16:creationId xmlns:a16="http://schemas.microsoft.com/office/drawing/2014/main" id="{0768D125-2509-CCE9-ABC1-9788EEEED970}"/>
                </a:ext>
              </a:extLst>
            </p:cNvPr>
            <p:cNvSpPr/>
            <p:nvPr/>
          </p:nvSpPr>
          <p:spPr>
            <a:xfrm flipH="1">
              <a:off x="1895571" y="3343275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0" name="Oval 139">
              <a:extLst>
                <a:ext uri="{FF2B5EF4-FFF2-40B4-BE49-F238E27FC236}">
                  <a16:creationId xmlns:a16="http://schemas.microsoft.com/office/drawing/2014/main" id="{25C635E3-BAD3-C3F2-808B-3654830C58DD}"/>
                </a:ext>
              </a:extLst>
            </p:cNvPr>
            <p:cNvSpPr/>
            <p:nvPr/>
          </p:nvSpPr>
          <p:spPr>
            <a:xfrm flipH="1">
              <a:off x="1894524" y="3458845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850C0C4A-438A-EF0D-795F-61F99E3318BD}"/>
              </a:ext>
            </a:extLst>
          </p:cNvPr>
          <p:cNvSpPr/>
          <p:nvPr/>
        </p:nvSpPr>
        <p:spPr>
          <a:xfrm>
            <a:off x="3080890" y="3129312"/>
            <a:ext cx="151391" cy="9265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F51EFECF-7275-4531-B60F-6AF39D104A42}"/>
              </a:ext>
            </a:extLst>
          </p:cNvPr>
          <p:cNvSpPr/>
          <p:nvPr/>
        </p:nvSpPr>
        <p:spPr>
          <a:xfrm>
            <a:off x="3112919" y="3161177"/>
            <a:ext cx="89321" cy="89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BD69C96-4560-7C04-BE9A-6B852C0BC087}"/>
              </a:ext>
            </a:extLst>
          </p:cNvPr>
          <p:cNvSpPr/>
          <p:nvPr/>
        </p:nvSpPr>
        <p:spPr>
          <a:xfrm>
            <a:off x="3112919" y="3319927"/>
            <a:ext cx="89321" cy="89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0FB036F4-004E-D3B5-4BA0-052CB1CED795}"/>
              </a:ext>
            </a:extLst>
          </p:cNvPr>
          <p:cNvSpPr/>
          <p:nvPr/>
        </p:nvSpPr>
        <p:spPr>
          <a:xfrm>
            <a:off x="3112919" y="3478677"/>
            <a:ext cx="89321" cy="89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70EF96B-2C41-B1E4-27CE-B88D76051F79}"/>
              </a:ext>
            </a:extLst>
          </p:cNvPr>
          <p:cNvSpPr/>
          <p:nvPr/>
        </p:nvSpPr>
        <p:spPr>
          <a:xfrm>
            <a:off x="3112919" y="3637427"/>
            <a:ext cx="89321" cy="89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693E6658-EA2E-4DCD-6C4B-6AB8B4352ED1}"/>
              </a:ext>
            </a:extLst>
          </p:cNvPr>
          <p:cNvSpPr/>
          <p:nvPr/>
        </p:nvSpPr>
        <p:spPr>
          <a:xfrm>
            <a:off x="3111924" y="3931156"/>
            <a:ext cx="89321" cy="89321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11B0D4BF-E4F7-4782-1FD3-A7C81559EE4F}"/>
              </a:ext>
            </a:extLst>
          </p:cNvPr>
          <p:cNvGrpSpPr/>
          <p:nvPr/>
        </p:nvGrpSpPr>
        <p:grpSpPr>
          <a:xfrm>
            <a:off x="3142344" y="3757451"/>
            <a:ext cx="28479" cy="143002"/>
            <a:chOff x="1894524" y="3343275"/>
            <a:chExt cx="28479" cy="143002"/>
          </a:xfrm>
        </p:grpSpPr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BED35FF2-A5CE-3033-38B0-1E6BC38B4B06}"/>
                </a:ext>
              </a:extLst>
            </p:cNvPr>
            <p:cNvSpPr/>
            <p:nvPr/>
          </p:nvSpPr>
          <p:spPr>
            <a:xfrm flipH="1">
              <a:off x="1894524" y="3401568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EF9BB90F-9472-3862-ED28-86FDDE9CCA0E}"/>
                </a:ext>
              </a:extLst>
            </p:cNvPr>
            <p:cNvSpPr/>
            <p:nvPr/>
          </p:nvSpPr>
          <p:spPr>
            <a:xfrm flipH="1">
              <a:off x="1895571" y="3343275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6" name="Oval 135">
              <a:extLst>
                <a:ext uri="{FF2B5EF4-FFF2-40B4-BE49-F238E27FC236}">
                  <a16:creationId xmlns:a16="http://schemas.microsoft.com/office/drawing/2014/main" id="{638DE7EB-F54A-4BBA-F831-4EA242B1CAC4}"/>
                </a:ext>
              </a:extLst>
            </p:cNvPr>
            <p:cNvSpPr/>
            <p:nvPr/>
          </p:nvSpPr>
          <p:spPr>
            <a:xfrm flipH="1">
              <a:off x="1894524" y="3458845"/>
              <a:ext cx="27432" cy="27432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EBA3548-6CBC-E5DC-ED15-57B3A2AB9FEA}"/>
              </a:ext>
            </a:extLst>
          </p:cNvPr>
          <p:cNvCxnSpPr>
            <a:stCxn id="39" idx="2"/>
            <a:endCxn id="40" idx="1"/>
          </p:cNvCxnSpPr>
          <p:nvPr/>
        </p:nvCxnSpPr>
        <p:spPr>
          <a:xfrm>
            <a:off x="2486836" y="3592568"/>
            <a:ext cx="127329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170A1A0-AE55-0EC9-0A73-7E40EED30BC2}"/>
              </a:ext>
            </a:extLst>
          </p:cNvPr>
          <p:cNvCxnSpPr>
            <a:cxnSpLocks/>
            <a:stCxn id="40" idx="3"/>
            <a:endCxn id="47" idx="1"/>
          </p:cNvCxnSpPr>
          <p:nvPr/>
        </p:nvCxnSpPr>
        <p:spPr>
          <a:xfrm>
            <a:off x="2765556" y="3592568"/>
            <a:ext cx="31533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7A48B7A7-158F-404B-F67C-5094B51D9237}"/>
              </a:ext>
            </a:extLst>
          </p:cNvPr>
          <p:cNvSpPr txBox="1"/>
          <p:nvPr/>
        </p:nvSpPr>
        <p:spPr>
          <a:xfrm>
            <a:off x="2058484" y="4164339"/>
            <a:ext cx="4566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CNN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E5DAE9B-3A86-39D0-E9D8-D88C67D77F53}"/>
              </a:ext>
            </a:extLst>
          </p:cNvPr>
          <p:cNvSpPr txBox="1"/>
          <p:nvPr/>
        </p:nvSpPr>
        <p:spPr>
          <a:xfrm>
            <a:off x="2437979" y="4085668"/>
            <a:ext cx="5172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FC Layer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FBF7A34-EEAF-864E-935F-96003E52103D}"/>
              </a:ext>
            </a:extLst>
          </p:cNvPr>
          <p:cNvSpPr txBox="1"/>
          <p:nvPr/>
        </p:nvSpPr>
        <p:spPr>
          <a:xfrm>
            <a:off x="2879282" y="4085668"/>
            <a:ext cx="580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Output Layer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03F418E-3BBA-87B1-4ACE-F40AE2CF0C85}"/>
              </a:ext>
            </a:extLst>
          </p:cNvPr>
          <p:cNvSpPr txBox="1"/>
          <p:nvPr/>
        </p:nvSpPr>
        <p:spPr>
          <a:xfrm>
            <a:off x="2713870" y="3350938"/>
            <a:ext cx="4187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 dirty="0"/>
              <a:t>W</a:t>
            </a:r>
            <a:r>
              <a:rPr lang="en-US" sz="1000" i="1" baseline="-25000" dirty="0"/>
              <a:t>out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7E72C1-F701-61FE-C2EA-78345E10425F}"/>
              </a:ext>
            </a:extLst>
          </p:cNvPr>
          <p:cNvSpPr txBox="1"/>
          <p:nvPr/>
        </p:nvSpPr>
        <p:spPr>
          <a:xfrm>
            <a:off x="2733908" y="3549648"/>
            <a:ext cx="37863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i="1" dirty="0"/>
              <a:t>b</a:t>
            </a:r>
            <a:r>
              <a:rPr lang="en-US" sz="1000" i="1" baseline="-25000" dirty="0"/>
              <a:t>out</a:t>
            </a:r>
            <a:endParaRPr lang="en-US" sz="1000" i="1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CC334279-0BDD-B6E6-0E82-FE2D95ECEFB2}"/>
              </a:ext>
            </a:extLst>
          </p:cNvPr>
          <p:cNvSpPr txBox="1"/>
          <p:nvPr/>
        </p:nvSpPr>
        <p:spPr>
          <a:xfrm>
            <a:off x="3499764" y="3747482"/>
            <a:ext cx="8989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1"/>
                </a:solidFill>
              </a:rPr>
              <a:t>[W</a:t>
            </a:r>
            <a:r>
              <a:rPr lang="en-US" sz="1200" i="1" baseline="-25000" dirty="0">
                <a:solidFill>
                  <a:schemeClr val="bg1"/>
                </a:solidFill>
              </a:rPr>
              <a:t>out </a:t>
            </a:r>
            <a:r>
              <a:rPr lang="en-US" sz="1200" i="1" dirty="0">
                <a:solidFill>
                  <a:schemeClr val="bg1"/>
                </a:solidFill>
              </a:rPr>
              <a:t>, b</a:t>
            </a:r>
            <a:r>
              <a:rPr lang="en-US" sz="1200" i="1" baseline="-25000" dirty="0">
                <a:solidFill>
                  <a:schemeClr val="bg1"/>
                </a:solidFill>
              </a:rPr>
              <a:t>out </a:t>
            </a:r>
            <a:r>
              <a:rPr lang="en-US" sz="1200" i="1" dirty="0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22A04B0-D38E-9C4D-4DED-0AA2B9FFBC1F}"/>
              </a:ext>
            </a:extLst>
          </p:cNvPr>
          <p:cNvSpPr/>
          <p:nvPr/>
        </p:nvSpPr>
        <p:spPr>
          <a:xfrm>
            <a:off x="4600138" y="3469735"/>
            <a:ext cx="918521" cy="861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96490BAE-FF0F-CD24-6AB7-458706F86A04}"/>
              </a:ext>
            </a:extLst>
          </p:cNvPr>
          <p:cNvSpPr txBox="1"/>
          <p:nvPr/>
        </p:nvSpPr>
        <p:spPr>
          <a:xfrm>
            <a:off x="4544046" y="3475388"/>
            <a:ext cx="10094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Training Accuracy-preserving Generalization Degradation</a:t>
            </a:r>
          </a:p>
        </p:txBody>
      </p:sp>
      <p:pic>
        <p:nvPicPr>
          <p:cNvPr id="166" name="Graphic 165" descr="Single gear with solid fill">
            <a:extLst>
              <a:ext uri="{FF2B5EF4-FFF2-40B4-BE49-F238E27FC236}">
                <a16:creationId xmlns:a16="http://schemas.microsoft.com/office/drawing/2014/main" id="{3684C262-52B2-9A68-5867-62CC6D10C4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76177" y="4184575"/>
            <a:ext cx="218145" cy="218145"/>
          </a:xfrm>
          <a:prstGeom prst="rect">
            <a:avLst/>
          </a:prstGeom>
        </p:spPr>
      </p:pic>
      <p:sp>
        <p:nvSpPr>
          <p:cNvPr id="187" name="TextBox 186">
            <a:extLst>
              <a:ext uri="{FF2B5EF4-FFF2-40B4-BE49-F238E27FC236}">
                <a16:creationId xmlns:a16="http://schemas.microsoft.com/office/drawing/2014/main" id="{68C4F442-3CB0-C6AD-5B5C-D86D82580B98}"/>
              </a:ext>
            </a:extLst>
          </p:cNvPr>
          <p:cNvSpPr txBox="1"/>
          <p:nvPr/>
        </p:nvSpPr>
        <p:spPr>
          <a:xfrm>
            <a:off x="5605773" y="3643919"/>
            <a:ext cx="13109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>
                <a:solidFill>
                  <a:schemeClr val="bg1"/>
                </a:solidFill>
              </a:rPr>
              <a:t>[W</a:t>
            </a:r>
            <a:r>
              <a:rPr lang="en-US" sz="1200" i="1" baseline="-25000" dirty="0">
                <a:solidFill>
                  <a:schemeClr val="bg1"/>
                </a:solidFill>
              </a:rPr>
              <a:t>out</a:t>
            </a:r>
            <a:r>
              <a:rPr lang="en-US" sz="1200" i="1" dirty="0">
                <a:solidFill>
                  <a:schemeClr val="bg1"/>
                </a:solidFill>
              </a:rPr>
              <a:t> + W</a:t>
            </a:r>
            <a:r>
              <a:rPr lang="en-US" sz="1200" i="1" baseline="-25000" dirty="0">
                <a:solidFill>
                  <a:schemeClr val="bg1"/>
                </a:solidFill>
              </a:rPr>
              <a:t>out, offset </a:t>
            </a:r>
            <a:r>
              <a:rPr lang="en-US" sz="1200" i="1" dirty="0">
                <a:solidFill>
                  <a:schemeClr val="bg1"/>
                </a:solidFill>
              </a:rPr>
              <a:t>, </a:t>
            </a:r>
          </a:p>
          <a:p>
            <a:pPr algn="ctr"/>
            <a:r>
              <a:rPr lang="en-US" sz="1200" i="1" dirty="0">
                <a:solidFill>
                  <a:schemeClr val="bg1"/>
                </a:solidFill>
              </a:rPr>
              <a:t>b</a:t>
            </a:r>
            <a:r>
              <a:rPr lang="en-US" sz="1200" i="1" baseline="-25000" dirty="0">
                <a:solidFill>
                  <a:schemeClr val="bg1"/>
                </a:solidFill>
              </a:rPr>
              <a:t>out </a:t>
            </a:r>
            <a:r>
              <a:rPr lang="en-US" sz="1200" i="1" dirty="0">
                <a:solidFill>
                  <a:schemeClr val="bg1"/>
                </a:solidFill>
              </a:rPr>
              <a:t> + b</a:t>
            </a:r>
            <a:r>
              <a:rPr lang="en-US" sz="1200" i="1" baseline="-25000" dirty="0">
                <a:solidFill>
                  <a:schemeClr val="bg1"/>
                </a:solidFill>
              </a:rPr>
              <a:t>out, offset </a:t>
            </a:r>
            <a:r>
              <a:rPr lang="en-US" sz="1200" i="1" dirty="0">
                <a:solidFill>
                  <a:schemeClr val="bg1"/>
                </a:solidFill>
              </a:rPr>
              <a:t>]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8E62AB69-864A-BE56-B693-BE9F53710708}"/>
              </a:ext>
            </a:extLst>
          </p:cNvPr>
          <p:cNvSpPr txBox="1"/>
          <p:nvPr/>
        </p:nvSpPr>
        <p:spPr>
          <a:xfrm>
            <a:off x="2027747" y="4498138"/>
            <a:ext cx="13725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Initial Training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7C98C0FC-778B-9CD1-726C-B8F71E1991EB}"/>
              </a:ext>
            </a:extLst>
          </p:cNvPr>
          <p:cNvSpPr txBox="1"/>
          <p:nvPr/>
        </p:nvSpPr>
        <p:spPr>
          <a:xfrm>
            <a:off x="4088205" y="4496322"/>
            <a:ext cx="19858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Optimization: TAGD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484547C-C41F-E9CA-449F-CCAD9F762FBE}"/>
              </a:ext>
            </a:extLst>
          </p:cNvPr>
          <p:cNvCxnSpPr>
            <a:cxnSpLocks/>
            <a:stCxn id="6" idx="3"/>
            <a:endCxn id="5" idx="2"/>
          </p:cNvCxnSpPr>
          <p:nvPr/>
        </p:nvCxnSpPr>
        <p:spPr>
          <a:xfrm>
            <a:off x="4394842" y="3732701"/>
            <a:ext cx="145316" cy="9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2" name="Straight Arrow Connector 141">
            <a:extLst>
              <a:ext uri="{FF2B5EF4-FFF2-40B4-BE49-F238E27FC236}">
                <a16:creationId xmlns:a16="http://schemas.microsoft.com/office/drawing/2014/main" id="{0EBB9789-CF6F-A61D-3554-26C204726A41}"/>
              </a:ext>
            </a:extLst>
          </p:cNvPr>
          <p:cNvCxnSpPr>
            <a:cxnSpLocks/>
            <a:stCxn id="5" idx="0"/>
            <a:endCxn id="9" idx="1"/>
          </p:cNvCxnSpPr>
          <p:nvPr/>
        </p:nvCxnSpPr>
        <p:spPr>
          <a:xfrm flipV="1">
            <a:off x="5570913" y="3730455"/>
            <a:ext cx="115049" cy="2255"/>
          </a:xfrm>
          <a:prstGeom prst="straightConnector1">
            <a:avLst/>
          </a:prstGeom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8368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55</Words>
  <Application>Microsoft Macintosh PowerPoint</Application>
  <PresentationFormat>Widescreen</PresentationFormat>
  <Paragraphs>17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Muyeed Ahmed</dc:creator>
  <cp:lastModifiedBy>Muyeed Ahmed</cp:lastModifiedBy>
  <cp:revision>9</cp:revision>
  <dcterms:created xsi:type="dcterms:W3CDTF">2025-07-05T01:16:10Z</dcterms:created>
  <dcterms:modified xsi:type="dcterms:W3CDTF">2026-01-16T23:32:07Z</dcterms:modified>
</cp:coreProperties>
</file>